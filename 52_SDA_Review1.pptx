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68" r:id="rId8"/>
    <p:sldId id="272" r:id="rId9"/>
    <p:sldId id="271"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udiseplus.gov.i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STUDENT DROPOUT ANALYSIS FOR SCHOOL EDUCATION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Number:52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just"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just"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Riyazulla Rahman J</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78462198"/>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20221CSE0504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Aishwarya Prabhu P</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20221CSE0516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Bhargavi 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20221CSE0517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Bhargavi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Mohamed H.B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Jayavadivel Ravi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55</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Presidency University</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dirty="0">
                <a:latin typeface="Cambria" panose="02040503050406030204" pitchFamily="18" charset="0"/>
                <a:ea typeface="Cambria" panose="02040503050406030204" pitchFamily="18" charset="0"/>
              </a:rPr>
              <a:t>: Right to education is key concern for govt and a school level, dropout ratio is high due to poverty and social, economic reasons, if govt have dropout student analysis on following different categories it will be very useful in framing different policies</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School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Area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Gender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Caste wise</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 Age/standard wise  expected output: focused interventions on high dropout rates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4590398"/>
          </a:xfrm>
          <a:prstGeom prst="rect">
            <a:avLst/>
          </a:prstGeom>
          <a:noFill/>
          <a:ln>
            <a:noFill/>
          </a:ln>
        </p:spPr>
        <p:txBody>
          <a:bodyPr spcFirstLastPara="1" wrap="square" lIns="91425" tIns="45700" rIns="91425" bIns="45700" anchor="t" anchorCtr="0">
            <a:normAutofit fontScale="92500"/>
          </a:bodyPr>
          <a:lstStyle/>
          <a:p>
            <a:pPr marL="76200" indent="0">
              <a:buNone/>
            </a:pPr>
            <a:r>
              <a:rPr lang="en-US" b="1" dirty="0">
                <a:latin typeface="Cambria" panose="02040503050406030204" pitchFamily="18" charset="0"/>
                <a:ea typeface="Cambria" panose="02040503050406030204" pitchFamily="18" charset="0"/>
              </a:rPr>
              <a:t>Problem Statement</a:t>
            </a:r>
            <a:r>
              <a:rPr lang="en-US" dirty="0">
                <a:latin typeface="Cambria" panose="02040503050406030204" pitchFamily="18" charset="0"/>
                <a:ea typeface="Cambria" panose="02040503050406030204" pitchFamily="18" charset="0"/>
              </a:rPr>
              <a:t>: </a:t>
            </a:r>
            <a:r>
              <a:rPr lang="en-IN" sz="2000" dirty="0">
                <a:latin typeface="Calibri" panose="020F0502020204030204" pitchFamily="34" charset="0"/>
                <a:ea typeface="Calibri" panose="020F0502020204030204" pitchFamily="34" charset="0"/>
                <a:cs typeface="Calibri" panose="020F0502020204030204" pitchFamily="34" charset="0"/>
              </a:rPr>
              <a:t>Many schools face persistent dropout issues due to a combination of socio-economic, academic, and behavioural factors.</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Lack of an early detection mechanism means at-risk students are not identified until it’s too late.</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This leads to reduced literacy rates, social challenges, and missed opportunities for students.</a:t>
            </a:r>
          </a:p>
          <a:p>
            <a:pPr marL="76200" indent="0">
              <a:buNone/>
            </a:pPr>
            <a:r>
              <a:rPr lang="en-IN" sz="2000" b="1" dirty="0">
                <a:latin typeface="Calibri" panose="020F0502020204030204" pitchFamily="34" charset="0"/>
                <a:ea typeface="Calibri" panose="020F0502020204030204" pitchFamily="34" charset="0"/>
                <a:cs typeface="Calibri" panose="020F0502020204030204" pitchFamily="34" charset="0"/>
              </a:rPr>
              <a:t>Key Gap:</a:t>
            </a:r>
            <a:r>
              <a:rPr lang="en-IN" sz="2000" dirty="0">
                <a:latin typeface="Calibri" panose="020F0502020204030204" pitchFamily="34" charset="0"/>
                <a:ea typeface="Calibri" panose="020F0502020204030204" pitchFamily="34" charset="0"/>
                <a:cs typeface="Calibri" panose="020F0502020204030204" pitchFamily="34" charset="0"/>
              </a:rPr>
              <a:t> Schools often rely on manual, subjective judgment instead of data-driven predictions.</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Objectives</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dirty="0">
                <a:latin typeface="Calibri" panose="020F0502020204030204" pitchFamily="34" charset="0"/>
                <a:ea typeface="Calibri" panose="020F0502020204030204" pitchFamily="34" charset="0"/>
                <a:cs typeface="Calibri" panose="020F0502020204030204" pitchFamily="34" charset="0"/>
              </a:rPr>
              <a:t>To collect and organize school-level student dropout data.</a:t>
            </a:r>
          </a:p>
          <a:p>
            <a:pPr lvl="0"/>
            <a:r>
              <a:rPr lang="en-IN" dirty="0">
                <a:latin typeface="Calibri" panose="020F0502020204030204" pitchFamily="34" charset="0"/>
                <a:ea typeface="Calibri" panose="020F0502020204030204" pitchFamily="34" charset="0"/>
                <a:cs typeface="Calibri" panose="020F0502020204030204" pitchFamily="34" charset="0"/>
              </a:rPr>
              <a:t>To categorize dropout data </a:t>
            </a:r>
            <a:r>
              <a:rPr lang="en-IN" b="1" dirty="0">
                <a:latin typeface="Calibri" panose="020F0502020204030204" pitchFamily="34" charset="0"/>
                <a:ea typeface="Calibri" panose="020F0502020204030204" pitchFamily="34" charset="0"/>
                <a:cs typeface="Calibri" panose="020F0502020204030204" pitchFamily="34" charset="0"/>
              </a:rPr>
              <a:t>school-wise, area-wise, gender-wise, caste-wise, and age/standard-wise</a:t>
            </a:r>
            <a:r>
              <a:rPr lang="en-IN" dirty="0">
                <a:latin typeface="Calibri" panose="020F0502020204030204" pitchFamily="34" charset="0"/>
                <a:ea typeface="Calibri" panose="020F0502020204030204" pitchFamily="34" charset="0"/>
                <a:cs typeface="Calibri" panose="020F0502020204030204" pitchFamily="34" charset="0"/>
              </a:rPr>
              <a:t>.</a:t>
            </a:r>
          </a:p>
          <a:p>
            <a:pPr lvl="0"/>
            <a:r>
              <a:rPr lang="en-IN" dirty="0">
                <a:latin typeface="Calibri" panose="020F0502020204030204" pitchFamily="34" charset="0"/>
                <a:ea typeface="Calibri" panose="020F0502020204030204" pitchFamily="34" charset="0"/>
                <a:cs typeface="Calibri" panose="020F0502020204030204" pitchFamily="34" charset="0"/>
              </a:rPr>
              <a:t>To develop a data-driven analysis dashboard for policymakers.</a:t>
            </a:r>
          </a:p>
          <a:p>
            <a:pPr lvl="0"/>
            <a:r>
              <a:rPr lang="en-IN" dirty="0">
                <a:latin typeface="Calibri" panose="020F0502020204030204" pitchFamily="34" charset="0"/>
                <a:ea typeface="Calibri" panose="020F0502020204030204" pitchFamily="34" charset="0"/>
                <a:cs typeface="Calibri" panose="020F0502020204030204" pitchFamily="34" charset="0"/>
              </a:rPr>
              <a:t>To support government planning for </a:t>
            </a:r>
            <a:r>
              <a:rPr lang="en-IN" b="1" dirty="0">
                <a:latin typeface="Calibri" panose="020F0502020204030204" pitchFamily="34" charset="0"/>
                <a:ea typeface="Calibri" panose="020F0502020204030204" pitchFamily="34" charset="0"/>
                <a:cs typeface="Calibri" panose="020F0502020204030204" pitchFamily="34" charset="0"/>
              </a:rPr>
              <a:t>focused interventions</a:t>
            </a:r>
            <a:r>
              <a:rPr lang="en-IN" dirty="0">
                <a:latin typeface="Calibri" panose="020F0502020204030204" pitchFamily="34" charset="0"/>
                <a:ea typeface="Calibri" panose="020F0502020204030204" pitchFamily="34" charset="0"/>
                <a:cs typeface="Calibri" panose="020F0502020204030204" pitchFamily="34" charset="0"/>
              </a:rPr>
              <a:t> in high-risk categories.</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152400" lvl="0" indent="0" algn="just" rtl="0">
              <a:lnSpc>
                <a:spcPct val="200000"/>
              </a:lnSpc>
              <a:spcBef>
                <a:spcPts val="0"/>
              </a:spcBef>
              <a:spcAft>
                <a:spcPts val="0"/>
              </a:spcAft>
              <a:buClr>
                <a:schemeClr val="dk1"/>
              </a:buClr>
              <a:buSzPts val="240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B6E6E-CDDF-2B54-BA53-B9FAFC1BFAF1}"/>
              </a:ext>
            </a:extLst>
          </p:cNvPr>
          <p:cNvSpPr>
            <a:spLocks noGrp="1"/>
          </p:cNvSpPr>
          <p:nvPr>
            <p:ph type="title"/>
          </p:nvPr>
        </p:nvSpPr>
        <p:spPr/>
        <p:txBody>
          <a:bodyPr/>
          <a:lstStyle/>
          <a:p>
            <a:r>
              <a:rPr lang="en-IN" dirty="0"/>
              <a:t>Background and Related Work</a:t>
            </a:r>
          </a:p>
        </p:txBody>
      </p:sp>
      <p:sp>
        <p:nvSpPr>
          <p:cNvPr id="3" name="Text Placeholder 2">
            <a:extLst>
              <a:ext uri="{FF2B5EF4-FFF2-40B4-BE49-F238E27FC236}">
                <a16:creationId xmlns:a16="http://schemas.microsoft.com/office/drawing/2014/main" id="{CA34D697-9E6D-B561-92EE-8D46FD0FFAF7}"/>
              </a:ext>
            </a:extLst>
          </p:cNvPr>
          <p:cNvSpPr>
            <a:spLocks noGrp="1"/>
          </p:cNvSpPr>
          <p:nvPr>
            <p:ph type="body" idx="1"/>
          </p:nvPr>
        </p:nvSpPr>
        <p:spPr/>
        <p:txBody>
          <a:bodyPr>
            <a:normAutofit fontScale="92500"/>
          </a:bodyPr>
          <a:lstStyle/>
          <a:p>
            <a:r>
              <a:rPr lang="en-IN" dirty="0">
                <a:latin typeface="Calibri" panose="020F0502020204030204" pitchFamily="34" charset="0"/>
                <a:ea typeface="Calibri" panose="020F0502020204030204" pitchFamily="34" charset="0"/>
                <a:cs typeface="Calibri" panose="020F0502020204030204" pitchFamily="34" charset="0"/>
              </a:rPr>
              <a:t>[1] S. Singh and R. Sharma, “Analysis of factors influencing school dropouts in rural India,” </a:t>
            </a:r>
            <a:r>
              <a:rPr lang="en-IN" i="1" dirty="0">
                <a:latin typeface="Calibri" panose="020F0502020204030204" pitchFamily="34" charset="0"/>
                <a:ea typeface="Calibri" panose="020F0502020204030204" pitchFamily="34" charset="0"/>
                <a:cs typeface="Calibri" panose="020F0502020204030204" pitchFamily="34" charset="0"/>
              </a:rPr>
              <a:t>IEEE Access</a:t>
            </a:r>
            <a:r>
              <a:rPr lang="en-IN" dirty="0">
                <a:latin typeface="Calibri" panose="020F0502020204030204" pitchFamily="34" charset="0"/>
                <a:ea typeface="Calibri" panose="020F0502020204030204" pitchFamily="34" charset="0"/>
                <a:cs typeface="Calibri" panose="020F0502020204030204" pitchFamily="34" charset="0"/>
              </a:rPr>
              <a:t>, vol. 10, pp. 45231–45240, 2022.</a:t>
            </a:r>
          </a:p>
          <a:p>
            <a:r>
              <a:rPr lang="en-IN" dirty="0">
                <a:latin typeface="Calibri" panose="020F0502020204030204" pitchFamily="34" charset="0"/>
                <a:ea typeface="Calibri" panose="020F0502020204030204" pitchFamily="34" charset="0"/>
                <a:cs typeface="Calibri" panose="020F0502020204030204" pitchFamily="34" charset="0"/>
              </a:rPr>
              <a:t>[2] A. Gupta, M. Khan, and P. Verma, “Predictive modelling for student retention using socio-economic indicators,” in </a:t>
            </a:r>
            <a:r>
              <a:rPr lang="en-IN" i="1" dirty="0">
                <a:latin typeface="Calibri" panose="020F0502020204030204" pitchFamily="34" charset="0"/>
                <a:ea typeface="Calibri" panose="020F0502020204030204" pitchFamily="34" charset="0"/>
                <a:cs typeface="Calibri" panose="020F0502020204030204" pitchFamily="34" charset="0"/>
              </a:rPr>
              <a:t>Proc. IEEE Int. Conf. Data Sci. and Eng.</a:t>
            </a:r>
            <a:r>
              <a:rPr lang="en-IN" dirty="0">
                <a:latin typeface="Calibri" panose="020F0502020204030204" pitchFamily="34" charset="0"/>
                <a:ea typeface="Calibri" panose="020F0502020204030204" pitchFamily="34" charset="0"/>
                <a:cs typeface="Calibri" panose="020F0502020204030204" pitchFamily="34" charset="0"/>
              </a:rPr>
              <a:t>, pp. 215–220, Dec. 2021.</a:t>
            </a:r>
          </a:p>
          <a:p>
            <a:r>
              <a:rPr lang="en-IN" dirty="0">
                <a:latin typeface="Calibri" panose="020F0502020204030204" pitchFamily="34" charset="0"/>
                <a:ea typeface="Calibri" panose="020F0502020204030204" pitchFamily="34" charset="0"/>
                <a:cs typeface="Calibri" panose="020F0502020204030204" pitchFamily="34" charset="0"/>
              </a:rPr>
              <a:t>[3] P. Kumar and V. Bansal, “A data analytics approach to identify high-risk school dropout zones,” </a:t>
            </a:r>
            <a:r>
              <a:rPr lang="en-IN" i="1" dirty="0">
                <a:latin typeface="Calibri" panose="020F0502020204030204" pitchFamily="34" charset="0"/>
                <a:ea typeface="Calibri" panose="020F0502020204030204" pitchFamily="34" charset="0"/>
                <a:cs typeface="Calibri" panose="020F0502020204030204" pitchFamily="34" charset="0"/>
              </a:rPr>
              <a:t>IEEE Trans. Learning Technologies</a:t>
            </a:r>
            <a:r>
              <a:rPr lang="en-IN" dirty="0">
                <a:latin typeface="Calibri" panose="020F0502020204030204" pitchFamily="34" charset="0"/>
                <a:ea typeface="Calibri" panose="020F0502020204030204" pitchFamily="34" charset="0"/>
                <a:cs typeface="Calibri" panose="020F0502020204030204" pitchFamily="34" charset="0"/>
              </a:rPr>
              <a:t>, vol. 14, no. 5, pp. 623–630, Sept. 2021.</a:t>
            </a:r>
          </a:p>
          <a:p>
            <a:r>
              <a:rPr lang="en-IN" dirty="0">
                <a:latin typeface="Calibri" panose="020F0502020204030204" pitchFamily="34" charset="0"/>
                <a:ea typeface="Calibri" panose="020F0502020204030204" pitchFamily="34" charset="0"/>
                <a:cs typeface="Calibri" panose="020F0502020204030204" pitchFamily="34" charset="0"/>
              </a:rPr>
              <a:t>[4] R. Patel and S. Desai, “Education data mining for policy-making: A case study of dropout prevention,” in </a:t>
            </a:r>
            <a:r>
              <a:rPr lang="en-IN" i="1" dirty="0">
                <a:latin typeface="Calibri" panose="020F0502020204030204" pitchFamily="34" charset="0"/>
                <a:ea typeface="Calibri" panose="020F0502020204030204" pitchFamily="34" charset="0"/>
                <a:cs typeface="Calibri" panose="020F0502020204030204" pitchFamily="34" charset="0"/>
              </a:rPr>
              <a:t>Proc. IEEE Global Humanitarian Tech. Conf.</a:t>
            </a:r>
            <a:r>
              <a:rPr lang="en-IN" dirty="0">
                <a:latin typeface="Calibri" panose="020F0502020204030204" pitchFamily="34" charset="0"/>
                <a:ea typeface="Calibri" panose="020F0502020204030204" pitchFamily="34" charset="0"/>
                <a:cs typeface="Calibri" panose="020F0502020204030204" pitchFamily="34" charset="0"/>
              </a:rPr>
              <a:t>, pp. 119–124, Oct. 2020.</a:t>
            </a:r>
          </a:p>
          <a:p>
            <a:r>
              <a:rPr lang="en-IN" dirty="0">
                <a:latin typeface="Calibri" panose="020F0502020204030204" pitchFamily="34" charset="0"/>
                <a:ea typeface="Calibri" panose="020F0502020204030204" pitchFamily="34" charset="0"/>
                <a:cs typeface="Calibri" panose="020F0502020204030204" pitchFamily="34" charset="0"/>
              </a:rPr>
              <a:t>[5] Ministry of Education, Govt. of India, “Unified District Information System for Education Plus (UDISE+) 2022–23 report,” [Online]. Available: https://udiseplus.gov.in</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7497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Technology Stack Components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1. Data Collection &amp; Processing</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Python</a:t>
            </a:r>
            <a:r>
              <a:rPr lang="en-IN" dirty="0">
                <a:latin typeface="Calibri" panose="020F0502020204030204" pitchFamily="34" charset="0"/>
                <a:ea typeface="Calibri" panose="020F0502020204030204" pitchFamily="34" charset="0"/>
                <a:cs typeface="Calibri" panose="020F0502020204030204" pitchFamily="34" charset="0"/>
              </a:rPr>
              <a:t> – Core language for data handling</a:t>
            </a:r>
          </a:p>
          <a:p>
            <a:pPr lvl="0"/>
            <a:r>
              <a:rPr lang="en-IN" b="1" dirty="0">
                <a:latin typeface="Calibri" panose="020F0502020204030204" pitchFamily="34" charset="0"/>
                <a:ea typeface="Calibri" panose="020F0502020204030204" pitchFamily="34" charset="0"/>
                <a:cs typeface="Calibri" panose="020F0502020204030204" pitchFamily="34" charset="0"/>
              </a:rPr>
              <a:t>Pandas</a:t>
            </a:r>
            <a:r>
              <a:rPr lang="en-IN" dirty="0">
                <a:latin typeface="Calibri" panose="020F0502020204030204" pitchFamily="34" charset="0"/>
                <a:ea typeface="Calibri" panose="020F0502020204030204" pitchFamily="34" charset="0"/>
                <a:cs typeface="Calibri" panose="020F0502020204030204" pitchFamily="34" charset="0"/>
              </a:rPr>
              <a:t> – Data frame operations (group by, filtering, aggregation)</a:t>
            </a:r>
          </a:p>
          <a:p>
            <a:pPr lvl="0"/>
            <a:r>
              <a:rPr lang="en-IN" b="1" dirty="0">
                <a:latin typeface="Calibri" panose="020F0502020204030204" pitchFamily="34" charset="0"/>
                <a:ea typeface="Calibri" panose="020F0502020204030204" pitchFamily="34" charset="0"/>
                <a:cs typeface="Calibri" panose="020F0502020204030204" pitchFamily="34" charset="0"/>
              </a:rPr>
              <a:t>NumPy</a:t>
            </a:r>
            <a:r>
              <a:rPr lang="en-IN" dirty="0">
                <a:latin typeface="Calibri" panose="020F0502020204030204" pitchFamily="34" charset="0"/>
                <a:ea typeface="Calibri" panose="020F0502020204030204" pitchFamily="34" charset="0"/>
                <a:cs typeface="Calibri" panose="020F0502020204030204" pitchFamily="34" charset="0"/>
              </a:rPr>
              <a:t> – Numerical computations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2. Data Visualization</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Matplotlib</a:t>
            </a:r>
            <a:r>
              <a:rPr lang="en-IN" dirty="0">
                <a:latin typeface="Calibri" panose="020F0502020204030204" pitchFamily="34" charset="0"/>
                <a:ea typeface="Calibri" panose="020F0502020204030204" pitchFamily="34" charset="0"/>
                <a:cs typeface="Calibri" panose="020F0502020204030204" pitchFamily="34" charset="0"/>
              </a:rPr>
              <a:t> – Basic charts (bar, line, pie)</a:t>
            </a:r>
          </a:p>
          <a:p>
            <a:pPr lvl="0"/>
            <a:r>
              <a:rPr lang="en-IN" b="1" dirty="0">
                <a:latin typeface="Calibri" panose="020F0502020204030204" pitchFamily="34" charset="0"/>
                <a:ea typeface="Calibri" panose="020F0502020204030204" pitchFamily="34" charset="0"/>
                <a:cs typeface="Calibri" panose="020F0502020204030204" pitchFamily="34" charset="0"/>
              </a:rPr>
              <a:t>Seaborn</a:t>
            </a:r>
            <a:r>
              <a:rPr lang="en-IN" dirty="0">
                <a:latin typeface="Calibri" panose="020F0502020204030204" pitchFamily="34" charset="0"/>
                <a:ea typeface="Calibri" panose="020F0502020204030204" pitchFamily="34" charset="0"/>
                <a:cs typeface="Calibri" panose="020F0502020204030204" pitchFamily="34" charset="0"/>
              </a:rPr>
              <a:t> – Statistical visualizations</a:t>
            </a:r>
          </a:p>
          <a:p>
            <a:pPr lvl="0"/>
            <a:r>
              <a:rPr lang="en-IN" b="1" dirty="0">
                <a:latin typeface="Calibri" panose="020F0502020204030204" pitchFamily="34" charset="0"/>
                <a:ea typeface="Calibri" panose="020F0502020204030204" pitchFamily="34" charset="0"/>
                <a:cs typeface="Calibri" panose="020F0502020204030204" pitchFamily="34" charset="0"/>
              </a:rPr>
              <a:t>Plotly </a:t>
            </a:r>
            <a:r>
              <a:rPr lang="en-IN" dirty="0">
                <a:latin typeface="Calibri" panose="020F0502020204030204" pitchFamily="34" charset="0"/>
                <a:ea typeface="Calibri" panose="020F0502020204030204" pitchFamily="34" charset="0"/>
                <a:cs typeface="Calibri" panose="020F0502020204030204" pitchFamily="34" charset="0"/>
              </a:rPr>
              <a:t> – Interactive dashboards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3. Storage</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MySQL</a:t>
            </a:r>
            <a:r>
              <a:rPr lang="en-IN" dirty="0">
                <a:latin typeface="Calibri" panose="020F0502020204030204" pitchFamily="34" charset="0"/>
                <a:ea typeface="Calibri" panose="020F0502020204030204" pitchFamily="34" charset="0"/>
                <a:cs typeface="Calibri" panose="020F0502020204030204" pitchFamily="34" charset="0"/>
              </a:rPr>
              <a:t>– Storing structured dropout records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4. Web/Dashboard Development (OPTIONAL)</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Flask / Django</a:t>
            </a:r>
            <a:r>
              <a:rPr lang="en-IN" dirty="0">
                <a:latin typeface="Calibri" panose="020F0502020204030204" pitchFamily="34" charset="0"/>
                <a:ea typeface="Calibri" panose="020F0502020204030204" pitchFamily="34" charset="0"/>
                <a:cs typeface="Calibri" panose="020F0502020204030204" pitchFamily="34" charset="0"/>
              </a:rPr>
              <a:t> – Backend for serving analysis results</a:t>
            </a:r>
          </a:p>
          <a:p>
            <a:pPr lvl="0"/>
            <a:r>
              <a:rPr lang="en-IN" b="1" dirty="0">
                <a:latin typeface="Calibri" panose="020F0502020204030204" pitchFamily="34" charset="0"/>
                <a:ea typeface="Calibri" panose="020F0502020204030204" pitchFamily="34" charset="0"/>
                <a:cs typeface="Calibri" panose="020F0502020204030204" pitchFamily="34" charset="0"/>
              </a:rPr>
              <a:t>React.js / HTML-CSS-JS</a:t>
            </a:r>
            <a:r>
              <a:rPr lang="en-IN" dirty="0">
                <a:latin typeface="Calibri" panose="020F0502020204030204" pitchFamily="34" charset="0"/>
                <a:ea typeface="Calibri" panose="020F0502020204030204" pitchFamily="34" charset="0"/>
                <a:cs typeface="Calibri" panose="020F0502020204030204" pitchFamily="34" charset="0"/>
              </a:rPr>
              <a:t> – Frontend for interactive visualizations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5. Hosting &amp; Deployment</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Stream lit</a:t>
            </a:r>
            <a:r>
              <a:rPr lang="en-IN" dirty="0">
                <a:latin typeface="Calibri" panose="020F0502020204030204" pitchFamily="34" charset="0"/>
                <a:ea typeface="Calibri" panose="020F0502020204030204" pitchFamily="34" charset="0"/>
                <a:cs typeface="Calibri" panose="020F0502020204030204" pitchFamily="34" charset="0"/>
              </a:rPr>
              <a:t> – Quick deployment of interactive data apps</a:t>
            </a:r>
          </a:p>
          <a:p>
            <a:pPr lvl="0"/>
            <a:r>
              <a:rPr lang="en-IN" b="1" dirty="0">
                <a:latin typeface="Calibri" panose="020F0502020204030204" pitchFamily="34" charset="0"/>
                <a:ea typeface="Calibri" panose="020F0502020204030204" pitchFamily="34" charset="0"/>
                <a:cs typeface="Calibri" panose="020F0502020204030204" pitchFamily="34" charset="0"/>
              </a:rPr>
              <a:t>GitHub</a:t>
            </a:r>
            <a:r>
              <a:rPr lang="en-IN" dirty="0">
                <a:latin typeface="Calibri" panose="020F0502020204030204" pitchFamily="34" charset="0"/>
                <a:ea typeface="Calibri" panose="020F0502020204030204" pitchFamily="34" charset="0"/>
                <a:cs typeface="Calibri" panose="020F0502020204030204" pitchFamily="34" charset="0"/>
              </a:rPr>
              <a:t> – Version control and public repository access</a:t>
            </a:r>
          </a:p>
          <a:p>
            <a:pPr marL="342900" lvl="0" indent="-190500" algn="just" rtl="0">
              <a:lnSpc>
                <a:spcPct val="200000"/>
              </a:lnSpc>
              <a:spcBef>
                <a:spcPts val="0"/>
              </a:spcBef>
              <a:spcAft>
                <a:spcPts val="0"/>
              </a:spcAft>
              <a:buClr>
                <a:schemeClr val="dk1"/>
              </a:buClr>
              <a:buSzPct val="100000"/>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 </a:t>
            </a: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https://github.com/Aishu-Prabhu/Batch_52_StudentDropOut.git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Requirements: </a:t>
            </a:r>
            <a:endParaRPr lang="en-IN" b="1" dirty="0"/>
          </a:p>
          <a:p>
            <a:r>
              <a:rPr lang="en-IN" b="1" dirty="0">
                <a:latin typeface="Calibri" panose="020F0502020204030204" pitchFamily="34" charset="0"/>
                <a:ea typeface="Calibri" panose="020F0502020204030204" pitchFamily="34" charset="0"/>
                <a:cs typeface="Calibri" panose="020F0502020204030204" pitchFamily="34" charset="0"/>
              </a:rPr>
              <a:t>Operating System:</a:t>
            </a:r>
            <a:r>
              <a:rPr lang="en-IN" dirty="0">
                <a:latin typeface="Calibri" panose="020F0502020204030204" pitchFamily="34" charset="0"/>
                <a:ea typeface="Calibri" panose="020F0502020204030204" pitchFamily="34" charset="0"/>
                <a:cs typeface="Calibri" panose="020F0502020204030204" pitchFamily="34" charset="0"/>
              </a:rPr>
              <a:t> Windows 10 later</a:t>
            </a:r>
          </a:p>
          <a:p>
            <a:r>
              <a:rPr lang="en-IN" b="1" dirty="0">
                <a:latin typeface="Calibri" panose="020F0502020204030204" pitchFamily="34" charset="0"/>
                <a:ea typeface="Calibri" panose="020F0502020204030204" pitchFamily="34" charset="0"/>
                <a:cs typeface="Calibri" panose="020F0502020204030204" pitchFamily="34" charset="0"/>
              </a:rPr>
              <a:t>Programming Language:</a:t>
            </a:r>
            <a:r>
              <a:rPr lang="en-IN" dirty="0">
                <a:latin typeface="Calibri" panose="020F0502020204030204" pitchFamily="34" charset="0"/>
                <a:ea typeface="Calibri" panose="020F0502020204030204" pitchFamily="34" charset="0"/>
                <a:cs typeface="Calibri" panose="020F0502020204030204" pitchFamily="34" charset="0"/>
              </a:rPr>
              <a:t> Python 3.9+</a:t>
            </a:r>
          </a:p>
          <a:p>
            <a:r>
              <a:rPr lang="en-IN" b="1" dirty="0">
                <a:latin typeface="Calibri" panose="020F0502020204030204" pitchFamily="34" charset="0"/>
                <a:ea typeface="Calibri" panose="020F0502020204030204" pitchFamily="34" charset="0"/>
                <a:cs typeface="Calibri" panose="020F0502020204030204" pitchFamily="34" charset="0"/>
              </a:rPr>
              <a:t>Libraries &amp; Frameworks:</a:t>
            </a:r>
            <a:r>
              <a:rPr lang="en-IN" dirty="0">
                <a:latin typeface="Calibri" panose="020F0502020204030204" pitchFamily="34" charset="0"/>
                <a:ea typeface="Calibri" panose="020F0502020204030204" pitchFamily="34" charset="0"/>
                <a:cs typeface="Calibri" panose="020F0502020204030204" pitchFamily="34" charset="0"/>
              </a:rPr>
              <a:t> Pandas, NumPy, Matplotlib, Seaborn, Plotly/Stream lit</a:t>
            </a:r>
          </a:p>
          <a:p>
            <a:r>
              <a:rPr lang="en-IN" b="1" dirty="0">
                <a:latin typeface="Calibri" panose="020F0502020204030204" pitchFamily="34" charset="0"/>
                <a:ea typeface="Calibri" panose="020F0502020204030204" pitchFamily="34" charset="0"/>
                <a:cs typeface="Calibri" panose="020F0502020204030204" pitchFamily="34" charset="0"/>
              </a:rPr>
              <a:t>Database:</a:t>
            </a:r>
            <a:r>
              <a:rPr lang="en-IN" dirty="0">
                <a:latin typeface="Calibri" panose="020F0502020204030204" pitchFamily="34" charset="0"/>
                <a:ea typeface="Calibri" panose="020F0502020204030204" pitchFamily="34" charset="0"/>
                <a:cs typeface="Calibri" panose="020F0502020204030204" pitchFamily="34" charset="0"/>
              </a:rPr>
              <a:t> MySQL </a:t>
            </a:r>
          </a:p>
          <a:p>
            <a:r>
              <a:rPr lang="en-IN" b="1" dirty="0">
                <a:latin typeface="Calibri" panose="020F0502020204030204" pitchFamily="34" charset="0"/>
                <a:ea typeface="Calibri" panose="020F0502020204030204" pitchFamily="34" charset="0"/>
                <a:cs typeface="Calibri" panose="020F0502020204030204" pitchFamily="34" charset="0"/>
              </a:rPr>
              <a:t>Version Control:</a:t>
            </a:r>
            <a:r>
              <a:rPr lang="en-IN" dirty="0">
                <a:latin typeface="Calibri" panose="020F0502020204030204" pitchFamily="34" charset="0"/>
                <a:ea typeface="Calibri" panose="020F0502020204030204" pitchFamily="34" charset="0"/>
                <a:cs typeface="Calibri" panose="020F0502020204030204" pitchFamily="34" charset="0"/>
              </a:rPr>
              <a:t> Git + GitHub (public repository access)</a:t>
            </a:r>
          </a:p>
          <a:p>
            <a:r>
              <a:rPr lang="en-IN" b="1" dirty="0">
                <a:latin typeface="Calibri" panose="020F0502020204030204" pitchFamily="34" charset="0"/>
                <a:ea typeface="Calibri" panose="020F0502020204030204" pitchFamily="34" charset="0"/>
                <a:cs typeface="Calibri" panose="020F0502020204030204" pitchFamily="34" charset="0"/>
              </a:rPr>
              <a:t>IDE / Tools:</a:t>
            </a:r>
            <a:r>
              <a:rPr lang="en-IN" dirty="0">
                <a:latin typeface="Calibri" panose="020F0502020204030204" pitchFamily="34" charset="0"/>
                <a:ea typeface="Calibri" panose="020F0502020204030204" pitchFamily="34" charset="0"/>
                <a:cs typeface="Calibri" panose="020F0502020204030204" pitchFamily="34" charset="0"/>
              </a:rPr>
              <a:t> Jupyter Notebook, VS Code, Excel</a:t>
            </a:r>
          </a:p>
          <a:p>
            <a:r>
              <a:rPr lang="en-IN" b="1" dirty="0">
                <a:latin typeface="Calibri" panose="020F0502020204030204" pitchFamily="34" charset="0"/>
                <a:ea typeface="Calibri" panose="020F0502020204030204" pitchFamily="34" charset="0"/>
                <a:cs typeface="Calibri" panose="020F0502020204030204" pitchFamily="34" charset="0"/>
              </a:rPr>
              <a:t>Browser:</a:t>
            </a:r>
            <a:r>
              <a:rPr lang="en-IN" dirty="0">
                <a:latin typeface="Calibri" panose="020F0502020204030204" pitchFamily="34" charset="0"/>
                <a:ea typeface="Calibri" panose="020F0502020204030204" pitchFamily="34" charset="0"/>
                <a:cs typeface="Calibri" panose="020F0502020204030204" pitchFamily="34" charset="0"/>
              </a:rPr>
              <a:t> Google Chrome / Mozilla Firefox (for dashboard access)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85000" lnSpcReduction="20000"/>
          </a:bodyPr>
          <a:lstStyle/>
          <a:p>
            <a:pPr lvl="0"/>
            <a:r>
              <a:rPr lang="en-IN" b="1" dirty="0">
                <a:latin typeface="Calibri" panose="020F0502020204030204" pitchFamily="34" charset="0"/>
                <a:ea typeface="Calibri" panose="020F0502020204030204" pitchFamily="34" charset="0"/>
                <a:cs typeface="Calibri" panose="020F0502020204030204" pitchFamily="34" charset="0"/>
              </a:rPr>
              <a:t>Current Gap:</a:t>
            </a:r>
            <a:r>
              <a:rPr lang="en-IN" dirty="0">
                <a:latin typeface="Calibri" panose="020F0502020204030204" pitchFamily="34" charset="0"/>
                <a:ea typeface="Calibri" panose="020F0502020204030204" pitchFamily="34" charset="0"/>
                <a:cs typeface="Calibri" panose="020F0502020204030204" pitchFamily="34" charset="0"/>
              </a:rPr>
              <a:t> Data exists but is often </a:t>
            </a:r>
            <a:r>
              <a:rPr lang="en-IN" b="1" dirty="0">
                <a:latin typeface="Calibri" panose="020F0502020204030204" pitchFamily="34" charset="0"/>
                <a:ea typeface="Calibri" panose="020F0502020204030204" pitchFamily="34" charset="0"/>
                <a:cs typeface="Calibri" panose="020F0502020204030204" pitchFamily="34" charset="0"/>
              </a:rPr>
              <a:t>fragmented, unstructured, and not categorized</a:t>
            </a:r>
            <a:r>
              <a:rPr lang="en-IN" dirty="0">
                <a:latin typeface="Calibri" panose="020F0502020204030204" pitchFamily="34" charset="0"/>
                <a:ea typeface="Calibri" panose="020F0502020204030204" pitchFamily="34" charset="0"/>
                <a:cs typeface="Calibri" panose="020F0502020204030204" pitchFamily="34" charset="0"/>
              </a:rPr>
              <a:t> for decision-making.</a:t>
            </a:r>
          </a:p>
          <a:p>
            <a:pPr lvl="0"/>
            <a:r>
              <a:rPr lang="en-IN" b="1" dirty="0">
                <a:latin typeface="Calibri" panose="020F0502020204030204" pitchFamily="34" charset="0"/>
                <a:ea typeface="Calibri" panose="020F0502020204030204" pitchFamily="34" charset="0"/>
                <a:cs typeface="Calibri" panose="020F0502020204030204" pitchFamily="34" charset="0"/>
              </a:rPr>
              <a:t>Our Approach:</a:t>
            </a:r>
            <a:r>
              <a:rPr lang="en-IN" dirty="0">
                <a:latin typeface="Calibri" panose="020F0502020204030204" pitchFamily="34" charset="0"/>
                <a:ea typeface="Calibri" panose="020F0502020204030204" pitchFamily="34" charset="0"/>
                <a:cs typeface="Calibri" panose="020F0502020204030204" pitchFamily="34" charset="0"/>
              </a:rPr>
              <a:t> Collect standardized data in the five government-relevant categories and perform statistical analysis + visualization.</a:t>
            </a:r>
          </a:p>
          <a:p>
            <a:pPr lvl="0"/>
            <a:r>
              <a:rPr lang="en-IN" b="1" dirty="0">
                <a:latin typeface="Calibri" panose="020F0502020204030204" pitchFamily="34" charset="0"/>
                <a:ea typeface="Calibri" panose="020F0502020204030204" pitchFamily="34" charset="0"/>
                <a:cs typeface="Calibri" panose="020F0502020204030204" pitchFamily="34" charset="0"/>
              </a:rPr>
              <a:t>Impact:</a:t>
            </a:r>
            <a:r>
              <a:rPr lang="en-IN" dirty="0">
                <a:latin typeface="Calibri" panose="020F0502020204030204" pitchFamily="34" charset="0"/>
                <a:ea typeface="Calibri" panose="020F0502020204030204" pitchFamily="34" charset="0"/>
                <a:cs typeface="Calibri" panose="020F0502020204030204" pitchFamily="34" charset="0"/>
              </a:rPr>
              <a:t> Clear identification of high-dropout pockets and communities, enabling targeted action.</a:t>
            </a:r>
          </a:p>
          <a:p>
            <a:pPr marL="76200" lv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200" b="1" u="sng" dirty="0">
                <a:latin typeface="Calibri" panose="020F0502020204030204" pitchFamily="34" charset="0"/>
                <a:ea typeface="Calibri" panose="020F0502020204030204" pitchFamily="34" charset="0"/>
                <a:cs typeface="Calibri" panose="020F0502020204030204" pitchFamily="34" charset="0"/>
              </a:rPr>
              <a:t>Innovations / Novel Contributions</a:t>
            </a:r>
            <a:endParaRPr lang="en-IN" sz="2200" u="sng" dirty="0">
              <a:latin typeface="Calibri" panose="020F0502020204030204" pitchFamily="34" charset="0"/>
              <a:ea typeface="Calibri" panose="020F0502020204030204" pitchFamily="34" charset="0"/>
              <a:cs typeface="Calibri" panose="020F0502020204030204" pitchFamily="34" charset="0"/>
            </a:endParaRP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1.Multi-Dimensional Dropout Categorization</a:t>
            </a:r>
            <a:endParaRPr lang="en-IN" sz="2200" dirty="0">
              <a:latin typeface="Calibri" panose="020F0502020204030204" pitchFamily="34" charset="0"/>
              <a:ea typeface="Calibri" panose="020F0502020204030204" pitchFamily="34" charset="0"/>
              <a:cs typeface="Calibri" panose="020F0502020204030204" pitchFamily="34" charset="0"/>
            </a:endParaRPr>
          </a:p>
          <a:p>
            <a:pPr lvl="1"/>
            <a:r>
              <a:rPr lang="en-IN" sz="2200" dirty="0">
                <a:latin typeface="Calibri" panose="020F0502020204030204" pitchFamily="34" charset="0"/>
                <a:ea typeface="Calibri" panose="020F0502020204030204" pitchFamily="34" charset="0"/>
                <a:cs typeface="Calibri" panose="020F0502020204030204" pitchFamily="34" charset="0"/>
              </a:rPr>
              <a:t>Breaks down dropout data into </a:t>
            </a:r>
            <a:r>
              <a:rPr lang="en-IN" sz="2200" b="1" dirty="0">
                <a:latin typeface="Calibri" panose="020F0502020204030204" pitchFamily="34" charset="0"/>
                <a:ea typeface="Calibri" panose="020F0502020204030204" pitchFamily="34" charset="0"/>
                <a:cs typeface="Calibri" panose="020F0502020204030204" pitchFamily="34" charset="0"/>
              </a:rPr>
              <a:t>five key policy-relevant categories</a:t>
            </a:r>
            <a:r>
              <a:rPr lang="en-IN" sz="2200" dirty="0">
                <a:latin typeface="Calibri" panose="020F0502020204030204" pitchFamily="34" charset="0"/>
                <a:ea typeface="Calibri" panose="020F0502020204030204" pitchFamily="34" charset="0"/>
                <a:cs typeface="Calibri" panose="020F0502020204030204" pitchFamily="34" charset="0"/>
              </a:rPr>
              <a:t> — school-wise, area-wise, gender-wise, caste-wise, and age/standard-wise — which is not common in existing government reports.</a:t>
            </a: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2.Interactive Visualization Dashboard</a:t>
            </a:r>
            <a:endParaRPr lang="en-IN" sz="2200" dirty="0">
              <a:latin typeface="Calibri" panose="020F0502020204030204" pitchFamily="34" charset="0"/>
              <a:ea typeface="Calibri" panose="020F0502020204030204" pitchFamily="34" charset="0"/>
              <a:cs typeface="Calibri" panose="020F0502020204030204" pitchFamily="34" charset="0"/>
            </a:endParaRPr>
          </a:p>
          <a:p>
            <a:pPr lvl="0"/>
            <a:r>
              <a:rPr lang="en-IN" sz="2200" dirty="0">
                <a:latin typeface="Calibri" panose="020F0502020204030204" pitchFamily="34" charset="0"/>
                <a:ea typeface="Calibri" panose="020F0502020204030204" pitchFamily="34" charset="0"/>
                <a:cs typeface="Calibri" panose="020F0502020204030204" pitchFamily="34" charset="0"/>
              </a:rPr>
              <a:t>Real-time graphs, heatmaps, and maps that help policymakers quickly identify </a:t>
            </a:r>
            <a:r>
              <a:rPr lang="en-IN" sz="2200" b="1" dirty="0">
                <a:latin typeface="Calibri" panose="020F0502020204030204" pitchFamily="34" charset="0"/>
                <a:ea typeface="Calibri" panose="020F0502020204030204" pitchFamily="34" charset="0"/>
                <a:cs typeface="Calibri" panose="020F0502020204030204" pitchFamily="34" charset="0"/>
              </a:rPr>
              <a:t>high-risk schools and communities</a:t>
            </a:r>
            <a:r>
              <a:rPr lang="en-IN" sz="2200" dirty="0">
                <a:latin typeface="Calibri" panose="020F0502020204030204" pitchFamily="34" charset="0"/>
                <a:ea typeface="Calibri" panose="020F0502020204030204" pitchFamily="34" charset="0"/>
                <a:cs typeface="Calibri" panose="020F0502020204030204" pitchFamily="34" charset="0"/>
              </a:rPr>
              <a:t>.</a:t>
            </a: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3.Five-category breakdown</a:t>
            </a:r>
            <a:r>
              <a:rPr lang="en-IN" sz="2200" dirty="0">
                <a:latin typeface="Calibri" panose="020F0502020204030204" pitchFamily="34" charset="0"/>
                <a:ea typeface="Calibri" panose="020F0502020204030204" pitchFamily="34" charset="0"/>
                <a:cs typeface="Calibri" panose="020F0502020204030204" pitchFamily="34" charset="0"/>
              </a:rPr>
              <a:t> of dropout data for precise intervention mapping.</a:t>
            </a:r>
          </a:p>
          <a:p>
            <a:pPr marL="76200" indent="0">
              <a:buNone/>
            </a:pPr>
            <a:r>
              <a:rPr lang="en-IN" sz="2200" b="1" dirty="0">
                <a:latin typeface="Calibri" panose="020F0502020204030204" pitchFamily="34" charset="0"/>
                <a:ea typeface="Calibri" panose="020F0502020204030204" pitchFamily="34" charset="0"/>
                <a:cs typeface="Calibri" panose="020F0502020204030204" pitchFamily="34" charset="0"/>
              </a:rPr>
              <a:t>4.Interactive dashboard</a:t>
            </a:r>
            <a:r>
              <a:rPr lang="en-IN" sz="2200" dirty="0">
                <a:latin typeface="Calibri" panose="020F0502020204030204" pitchFamily="34" charset="0"/>
                <a:ea typeface="Calibri" panose="020F0502020204030204" pitchFamily="34" charset="0"/>
                <a:cs typeface="Calibri" panose="020F0502020204030204" pitchFamily="34" charset="0"/>
              </a:rPr>
              <a:t> for real-time analysis</a:t>
            </a:r>
          </a:p>
          <a:p>
            <a:pPr marL="342900" lvl="0" indent="-190500" algn="just" rtl="0">
              <a:lnSpc>
                <a:spcPct val="200000"/>
              </a:lnSpc>
              <a:spcBef>
                <a:spcPts val="0"/>
              </a:spcBef>
              <a:spcAft>
                <a:spcPts val="0"/>
              </a:spcAft>
              <a:buClr>
                <a:schemeClr val="dk1"/>
              </a:buClr>
              <a:buSzPct val="100000"/>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WEEK-8</a:t>
            </a: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C1222C17-E2A3-6280-7865-C46EEE3FAE65}"/>
              </a:ext>
            </a:extLst>
          </p:cNvPr>
          <p:cNvGraphicFramePr>
            <a:graphicFrameLocks noGrp="1"/>
          </p:cNvGraphicFramePr>
          <p:nvPr>
            <p:extLst>
              <p:ext uri="{D42A27DB-BD31-4B8C-83A1-F6EECF244321}">
                <p14:modId xmlns:p14="http://schemas.microsoft.com/office/powerpoint/2010/main" val="381259293"/>
              </p:ext>
            </p:extLst>
          </p:nvPr>
        </p:nvGraphicFramePr>
        <p:xfrm>
          <a:off x="1232311" y="1615453"/>
          <a:ext cx="8904744" cy="4345858"/>
        </p:xfrm>
        <a:graphic>
          <a:graphicData uri="http://schemas.openxmlformats.org/drawingml/2006/table">
            <a:tbl>
              <a:tblPr firstRow="1" firstCol="1" bandRow="1">
                <a:tableStyleId>{3B4B98B0-60AC-42C2-AFA5-B58CD77FA1E5}</a:tableStyleId>
              </a:tblPr>
              <a:tblGrid>
                <a:gridCol w="1225754">
                  <a:extLst>
                    <a:ext uri="{9D8B030D-6E8A-4147-A177-3AD203B41FA5}">
                      <a16:colId xmlns:a16="http://schemas.microsoft.com/office/drawing/2014/main" val="910331931"/>
                    </a:ext>
                  </a:extLst>
                </a:gridCol>
                <a:gridCol w="753078">
                  <a:extLst>
                    <a:ext uri="{9D8B030D-6E8A-4147-A177-3AD203B41FA5}">
                      <a16:colId xmlns:a16="http://schemas.microsoft.com/office/drawing/2014/main" val="883094763"/>
                    </a:ext>
                  </a:extLst>
                </a:gridCol>
                <a:gridCol w="989416">
                  <a:extLst>
                    <a:ext uri="{9D8B030D-6E8A-4147-A177-3AD203B41FA5}">
                      <a16:colId xmlns:a16="http://schemas.microsoft.com/office/drawing/2014/main" val="1135233679"/>
                    </a:ext>
                  </a:extLst>
                </a:gridCol>
                <a:gridCol w="989416">
                  <a:extLst>
                    <a:ext uri="{9D8B030D-6E8A-4147-A177-3AD203B41FA5}">
                      <a16:colId xmlns:a16="http://schemas.microsoft.com/office/drawing/2014/main" val="1564290111"/>
                    </a:ext>
                  </a:extLst>
                </a:gridCol>
                <a:gridCol w="989416">
                  <a:extLst>
                    <a:ext uri="{9D8B030D-6E8A-4147-A177-3AD203B41FA5}">
                      <a16:colId xmlns:a16="http://schemas.microsoft.com/office/drawing/2014/main" val="2882430554"/>
                    </a:ext>
                  </a:extLst>
                </a:gridCol>
                <a:gridCol w="989416">
                  <a:extLst>
                    <a:ext uri="{9D8B030D-6E8A-4147-A177-3AD203B41FA5}">
                      <a16:colId xmlns:a16="http://schemas.microsoft.com/office/drawing/2014/main" val="1334644594"/>
                    </a:ext>
                  </a:extLst>
                </a:gridCol>
                <a:gridCol w="989416">
                  <a:extLst>
                    <a:ext uri="{9D8B030D-6E8A-4147-A177-3AD203B41FA5}">
                      <a16:colId xmlns:a16="http://schemas.microsoft.com/office/drawing/2014/main" val="3682181519"/>
                    </a:ext>
                  </a:extLst>
                </a:gridCol>
                <a:gridCol w="989416">
                  <a:extLst>
                    <a:ext uri="{9D8B030D-6E8A-4147-A177-3AD203B41FA5}">
                      <a16:colId xmlns:a16="http://schemas.microsoft.com/office/drawing/2014/main" val="1155573946"/>
                    </a:ext>
                  </a:extLst>
                </a:gridCol>
                <a:gridCol w="989416">
                  <a:extLst>
                    <a:ext uri="{9D8B030D-6E8A-4147-A177-3AD203B41FA5}">
                      <a16:colId xmlns:a16="http://schemas.microsoft.com/office/drawing/2014/main" val="603179660"/>
                    </a:ext>
                  </a:extLst>
                </a:gridCol>
              </a:tblGrid>
              <a:tr h="282007">
                <a:tc>
                  <a:txBody>
                    <a:bodyPr/>
                    <a:lstStyle/>
                    <a:p>
                      <a:pPr>
                        <a:lnSpc>
                          <a:spcPct val="107000"/>
                        </a:lnSpc>
                        <a:spcAft>
                          <a:spcPts val="800"/>
                        </a:spcAft>
                        <a:buNone/>
                      </a:pPr>
                      <a:r>
                        <a:rPr lang="en-IN" sz="1200" b="1" kern="100">
                          <a:effectLst/>
                        </a:rPr>
                        <a:t>Phase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2867067"/>
                  </a:ext>
                </a:extLst>
              </a:tr>
              <a:tr h="442236">
                <a:tc>
                  <a:txBody>
                    <a:bodyPr/>
                    <a:lstStyle/>
                    <a:p>
                      <a:pPr>
                        <a:lnSpc>
                          <a:spcPct val="107000"/>
                        </a:lnSpc>
                        <a:spcAft>
                          <a:spcPts val="800"/>
                        </a:spcAft>
                        <a:buNone/>
                      </a:pPr>
                      <a:r>
                        <a:rPr lang="en-IN" sz="1200" b="1" kern="100">
                          <a:effectLst/>
                        </a:rPr>
                        <a:t>Data Collection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2825193"/>
                  </a:ext>
                </a:extLst>
              </a:tr>
              <a:tr h="877272">
                <a:tc>
                  <a:txBody>
                    <a:bodyPr/>
                    <a:lstStyle/>
                    <a:p>
                      <a:pPr>
                        <a:lnSpc>
                          <a:spcPct val="107000"/>
                        </a:lnSpc>
                        <a:spcAft>
                          <a:spcPts val="800"/>
                        </a:spcAft>
                        <a:buNone/>
                      </a:pPr>
                      <a:r>
                        <a:rPr lang="en-IN" sz="1200" b="1" kern="100">
                          <a:effectLst/>
                        </a:rPr>
                        <a:t>Data Cleaning &amp; Standardization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dirty="0">
                          <a:effectLst/>
                        </a:rPr>
                        <a: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6537238"/>
                  </a:ext>
                </a:extLst>
              </a:tr>
              <a:tr h="659753">
                <a:tc>
                  <a:txBody>
                    <a:bodyPr/>
                    <a:lstStyle/>
                    <a:p>
                      <a:pPr>
                        <a:lnSpc>
                          <a:spcPct val="107000"/>
                        </a:lnSpc>
                        <a:spcAft>
                          <a:spcPts val="800"/>
                        </a:spcAft>
                        <a:buNone/>
                      </a:pPr>
                      <a:r>
                        <a:rPr lang="en-IN" sz="1200" b="1" kern="100">
                          <a:effectLst/>
                        </a:rPr>
                        <a:t>Categorization &amp; Analysis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90262525"/>
                  </a:ext>
                </a:extLst>
              </a:tr>
              <a:tr h="877272">
                <a:tc>
                  <a:txBody>
                    <a:bodyPr/>
                    <a:lstStyle/>
                    <a:p>
                      <a:pPr>
                        <a:lnSpc>
                          <a:spcPct val="107000"/>
                        </a:lnSpc>
                        <a:spcAft>
                          <a:spcPts val="800"/>
                        </a:spcAft>
                        <a:buNone/>
                      </a:pPr>
                      <a:r>
                        <a:rPr lang="en-IN" sz="1200" b="1" kern="100">
                          <a:effectLst/>
                        </a:rPr>
                        <a:t>Visualization &amp; Dashboard Dev.</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6280325"/>
                  </a:ext>
                </a:extLst>
              </a:tr>
              <a:tr h="547565">
                <a:tc>
                  <a:txBody>
                    <a:bodyPr/>
                    <a:lstStyle/>
                    <a:p>
                      <a:pPr>
                        <a:lnSpc>
                          <a:spcPct val="107000"/>
                        </a:lnSpc>
                        <a:spcAft>
                          <a:spcPts val="800"/>
                        </a:spcAft>
                        <a:buNone/>
                      </a:pPr>
                      <a:r>
                        <a:rPr lang="en-IN" sz="1200" b="1" kern="100">
                          <a:effectLst/>
                        </a:rPr>
                        <a:t>Testing &amp; Refinement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67950713"/>
                  </a:ext>
                </a:extLst>
              </a:tr>
              <a:tr h="659753">
                <a:tc>
                  <a:txBody>
                    <a:bodyPr/>
                    <a:lstStyle/>
                    <a:p>
                      <a:pPr>
                        <a:lnSpc>
                          <a:spcPct val="107000"/>
                        </a:lnSpc>
                        <a:spcAft>
                          <a:spcPts val="800"/>
                        </a:spcAft>
                        <a:buNone/>
                      </a:pPr>
                      <a:r>
                        <a:rPr lang="en-IN" sz="1200" b="1" kern="100">
                          <a:effectLst/>
                        </a:rPr>
                        <a:t>Final Reporting &amp; Review</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dirty="0">
                          <a:effectLst/>
                        </a:rPr>
                        <a: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54220452"/>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5AEB8C2C-718B-5661-6521-3425DC674D94}"/>
              </a:ext>
            </a:extLst>
          </p:cNvPr>
          <p:cNvSpPr>
            <a:spLocks noGrp="1" noChangeArrowheads="1"/>
          </p:cNvSpPr>
          <p:nvPr>
            <p:ph type="body" idx="1"/>
          </p:nvPr>
        </p:nvSpPr>
        <p:spPr bwMode="auto">
          <a:xfrm>
            <a:off x="304800" y="1718981"/>
            <a:ext cx="11533239"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dirty="0">
                <a:latin typeface="Calibri" panose="020F0502020204030204" pitchFamily="34" charset="0"/>
                <a:ea typeface="Calibri" panose="020F0502020204030204" pitchFamily="34" charset="0"/>
                <a:cs typeface="Calibri" panose="020F0502020204030204" pitchFamily="34" charset="0"/>
              </a:rPr>
              <a:t>[1] R. Patel and S. Desai, “Education data mining for policy-making: A case study of dropout prevention,” in </a:t>
            </a:r>
            <a:r>
              <a:rPr lang="en-IN" sz="1800" i="1" dirty="0">
                <a:latin typeface="Calibri" panose="020F0502020204030204" pitchFamily="34" charset="0"/>
                <a:ea typeface="Calibri" panose="020F0502020204030204" pitchFamily="34" charset="0"/>
                <a:cs typeface="Calibri" panose="020F0502020204030204" pitchFamily="34" charset="0"/>
              </a:rPr>
              <a:t>Proc. IEEE Global Humanitarian Tech. Conf.</a:t>
            </a:r>
            <a:r>
              <a:rPr lang="en-IN" sz="1800" dirty="0">
                <a:latin typeface="Calibri" panose="020F0502020204030204" pitchFamily="34" charset="0"/>
                <a:ea typeface="Calibri" panose="020F0502020204030204" pitchFamily="34" charset="0"/>
                <a:cs typeface="Calibri" panose="020F0502020204030204" pitchFamily="34" charset="0"/>
              </a:rPr>
              <a:t>, pp. 119–124, Oct. 2020.</a:t>
            </a:r>
          </a:p>
          <a:p>
            <a:r>
              <a:rPr lang="en-IN" sz="1800" dirty="0">
                <a:latin typeface="Calibri" panose="020F0502020204030204" pitchFamily="34" charset="0"/>
                <a:ea typeface="Calibri" panose="020F0502020204030204" pitchFamily="34" charset="0"/>
                <a:cs typeface="Calibri" panose="020F0502020204030204" pitchFamily="34" charset="0"/>
              </a:rPr>
              <a:t>[2] Ministry of Education, Govt. of India, “Unified District Information System for Education Plus (UDISE+) 2022–23 report,” [Online]. Available: </a:t>
            </a:r>
            <a:r>
              <a:rPr lang="en-IN" sz="1800" dirty="0">
                <a:latin typeface="Calibri" panose="020F0502020204030204" pitchFamily="34" charset="0"/>
                <a:ea typeface="Calibri" panose="020F0502020204030204" pitchFamily="34" charset="0"/>
                <a:cs typeface="Calibri" panose="020F0502020204030204" pitchFamily="34" charset="0"/>
                <a:hlinkClick r:id="rId3"/>
              </a:rPr>
              <a:t>https://udiseplus.gov.in</a:t>
            </a:r>
            <a:endParaRPr lang="en-IN" sz="1800" dirty="0">
              <a:latin typeface="Calibri" panose="020F0502020204030204" pitchFamily="34" charset="0"/>
              <a:ea typeface="Calibri" panose="020F0502020204030204" pitchFamily="34" charset="0"/>
              <a:cs typeface="Calibri" panose="020F0502020204030204" pitchFamily="34" charset="0"/>
            </a:endParaRP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[3]R. Ramesh, S. Kumar, and A. Patel, “Predicting student dropout risk using decision tree classification,”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IEEE Access</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vol. 9, pp. 12345–12354, 2021.</a:t>
            </a: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[4]M. Khan and L. Wong, “Logistic regression analysis for school dropout prediction,”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Proc. IEEE Conf. EduTech</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pp. 234–239, 2020.</a:t>
            </a: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[5]J. Fernandes, P. Silva, and R. Costa, “Random forest approach for student dropout analysis,”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Education Data Mining</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pp. 45–52, 2019.</a:t>
            </a:r>
          </a:p>
          <a:p>
            <a:pPr marL="76200" indent="0">
              <a:buNone/>
            </a:pPr>
            <a:endParaRPr lang="en-IN"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TotalTime>
  <Words>1154</Words>
  <Application>Microsoft Office PowerPoint</Application>
  <PresentationFormat>Widescreen</PresentationFormat>
  <Paragraphs>146</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vt:lpstr>
      <vt:lpstr>Verdana</vt:lpstr>
      <vt:lpstr>Wingdings</vt:lpstr>
      <vt:lpstr>Bioinformatics</vt:lpstr>
      <vt:lpstr>STUDENT DROPOUT ANALYSIS FOR SCHOOL EDUCATION</vt:lpstr>
      <vt:lpstr>Problem Statement Number: 55</vt:lpstr>
      <vt:lpstr>Content</vt:lpstr>
      <vt:lpstr>Content (continuation)..</vt:lpstr>
      <vt:lpstr>Background and Related Work</vt:lpstr>
      <vt:lpstr>Technology Stack Components</vt:lpstr>
      <vt:lpstr>Github Link</vt:lpstr>
      <vt:lpstr>Analysis of Problem Statement </vt:lpstr>
      <vt:lpstr>Analysis of Problem Statement </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AISHWARYA PRABHU P</cp:lastModifiedBy>
  <cp:revision>40</cp:revision>
  <dcterms:modified xsi:type="dcterms:W3CDTF">2025-08-12T14:47:41Z</dcterms:modified>
</cp:coreProperties>
</file>