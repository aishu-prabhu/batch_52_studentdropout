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69" r:id="rId4"/>
    <p:sldId id="274" r:id="rId5"/>
    <p:sldId id="271" r:id="rId6"/>
    <p:sldId id="272" r:id="rId7"/>
    <p:sldId id="268" r:id="rId8"/>
    <p:sldId id="273" r:id="rId9"/>
    <p:sldId id="276" r:id="rId10"/>
    <p:sldId id="275"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672C32EE-12C8-A677-299E-91F86F007A43}"/>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5F772405-813A-6522-E07C-DE8D0D5DCE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547FCC4-B87B-8008-D778-7CAF4C2651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7065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udiseplus.gov.i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AIML-STUDENT DROPOUT ANALYSIS FOR SCHOOL EDUCATION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Number:52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just"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just"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just"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Riyazulla Rahman J</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just"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478462198"/>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20221CSE0504</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Aishwarya Prabhu P</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20221CSE0516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Bhargavi 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t>20221CSE0517</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Bhargavi 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B.Tech</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Mohamed H.B</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Mr. Muthuraj V</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4610062"/>
          </a:xfrm>
          <a:prstGeom prst="rect">
            <a:avLst/>
          </a:prstGeom>
          <a:noFill/>
          <a:ln>
            <a:noFill/>
          </a:ln>
        </p:spPr>
        <p:txBody>
          <a:bodyPr spcFirstLastPara="1" wrap="square" lIns="91425" tIns="45700" rIns="91425" bIns="45700" anchor="t" anchorCtr="0">
            <a:normAutofit fontScale="85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Existing Methods and Drawbacks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Proposed Methods and Feasibility Study</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Architecture Diagram</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Modules , Hardware and Software Details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55</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2500" lnSpcReduction="20000"/>
          </a:bodyPr>
          <a:lstStyle/>
          <a:p>
            <a:pPr marL="342900" lvl="0" indent="-190500" algn="just">
              <a:spcBef>
                <a:spcPts val="0"/>
              </a:spcBef>
              <a:buNone/>
            </a:pPr>
            <a:r>
              <a:rPr lang="en-US" sz="4000" b="1" u="sng" dirty="0">
                <a:latin typeface="Cambria" panose="02040503050406030204" pitchFamily="18" charset="0"/>
                <a:ea typeface="Cambria" panose="02040503050406030204" pitchFamily="18" charset="0"/>
              </a:rPr>
              <a:t>ABSTRACT:</a:t>
            </a:r>
          </a:p>
          <a:p>
            <a:pPr marL="342900" lvl="0" indent="-190500" algn="just">
              <a:spcBef>
                <a:spcPts val="0"/>
              </a:spcBef>
              <a:buNone/>
            </a:pPr>
            <a:endParaRPr lang="en-US" b="1" dirty="0">
              <a:latin typeface="Cambria" panose="02040503050406030204" pitchFamily="18" charset="0"/>
              <a:ea typeface="Cambria" panose="02040503050406030204" pitchFamily="18" charset="0"/>
            </a:endParaRPr>
          </a:p>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Government of Karnataka</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r>
              <a:rPr lang="en-US" dirty="0">
                <a:latin typeface="Cambria" panose="02040503050406030204" pitchFamily="18" charset="0"/>
                <a:ea typeface="Cambria" panose="02040503050406030204" pitchFamily="18" charset="0"/>
              </a:rPr>
              <a:t>: Right to education is key concern for govt and a school level, dropout ratio is high due to poverty and social, economic reasons, if govt have dropout student analysis on following different categories it will be very useful in framing different policies</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School wise </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Area wise </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Gender wise </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Caste wise</a:t>
            </a:r>
          </a:p>
          <a:p>
            <a:pPr marL="609600" lvl="0" indent="-457200" algn="just">
              <a:lnSpc>
                <a:spcPct val="200000"/>
              </a:lnSpc>
              <a:spcBef>
                <a:spcPts val="0"/>
              </a:spcBef>
              <a:buAutoNum type="arabicPeriod"/>
            </a:pPr>
            <a:r>
              <a:rPr lang="en-US" dirty="0">
                <a:latin typeface="Cambria" panose="02040503050406030204" pitchFamily="18" charset="0"/>
                <a:ea typeface="Cambria" panose="02040503050406030204" pitchFamily="18" charset="0"/>
              </a:rPr>
              <a:t> Age/standard wise  expected output: focused interventions on high dropout rates</a:t>
            </a: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4590398"/>
          </a:xfrm>
          <a:prstGeom prst="rect">
            <a:avLst/>
          </a:prstGeom>
          <a:noFill/>
          <a:ln>
            <a:noFill/>
          </a:ln>
        </p:spPr>
        <p:txBody>
          <a:bodyPr spcFirstLastPara="1" wrap="square" lIns="91425" tIns="45700" rIns="91425" bIns="45700" anchor="t" anchorCtr="0">
            <a:normAutofit fontScale="92500"/>
          </a:bodyPr>
          <a:lstStyle/>
          <a:p>
            <a:pPr marL="76200" indent="0">
              <a:buNone/>
            </a:pPr>
            <a:r>
              <a:rPr lang="en-US" b="1" dirty="0">
                <a:latin typeface="Cambria" panose="02040503050406030204" pitchFamily="18" charset="0"/>
                <a:ea typeface="Cambria" panose="02040503050406030204" pitchFamily="18" charset="0"/>
              </a:rPr>
              <a:t>Problem Statement</a:t>
            </a:r>
            <a:r>
              <a:rPr lang="en-US" dirty="0">
                <a:latin typeface="Cambria" panose="02040503050406030204" pitchFamily="18" charset="0"/>
                <a:ea typeface="Cambria" panose="02040503050406030204" pitchFamily="18" charset="0"/>
              </a:rPr>
              <a:t>: </a:t>
            </a:r>
            <a:r>
              <a:rPr lang="en-IN" sz="2000" dirty="0">
                <a:latin typeface="Calibri" panose="020F0502020204030204" pitchFamily="34" charset="0"/>
                <a:ea typeface="Calibri" panose="020F0502020204030204" pitchFamily="34" charset="0"/>
                <a:cs typeface="Calibri" panose="020F0502020204030204" pitchFamily="34" charset="0"/>
              </a:rPr>
              <a:t>Many schools face persistent dropout issues due to a combination of socio-economic, academic, and behavioural factors.</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Lack of an early detection mechanism means at-risk students are not identified until it’s too late.</a:t>
            </a:r>
            <a:br>
              <a:rPr lang="en-IN" sz="2000" dirty="0">
                <a:latin typeface="Calibri" panose="020F0502020204030204" pitchFamily="34" charset="0"/>
                <a:ea typeface="Calibri" panose="020F0502020204030204" pitchFamily="34" charset="0"/>
                <a:cs typeface="Calibri" panose="020F0502020204030204" pitchFamily="34" charset="0"/>
              </a:rPr>
            </a:br>
            <a:r>
              <a:rPr lang="en-IN" sz="2000" dirty="0">
                <a:latin typeface="Calibri" panose="020F0502020204030204" pitchFamily="34" charset="0"/>
                <a:ea typeface="Calibri" panose="020F0502020204030204" pitchFamily="34" charset="0"/>
                <a:cs typeface="Calibri" panose="020F0502020204030204" pitchFamily="34" charset="0"/>
              </a:rPr>
              <a:t>This leads to reduced literacy rates, social challenges, and missed opportunities for students.</a:t>
            </a:r>
          </a:p>
          <a:p>
            <a:pPr marL="76200" indent="0">
              <a:buNone/>
            </a:pPr>
            <a:r>
              <a:rPr lang="en-IN" sz="2000" b="1" dirty="0">
                <a:latin typeface="Calibri" panose="020F0502020204030204" pitchFamily="34" charset="0"/>
                <a:ea typeface="Calibri" panose="020F0502020204030204" pitchFamily="34" charset="0"/>
                <a:cs typeface="Calibri" panose="020F0502020204030204" pitchFamily="34" charset="0"/>
              </a:rPr>
              <a:t>Key Gap:</a:t>
            </a:r>
            <a:r>
              <a:rPr lang="en-IN" sz="2000" dirty="0">
                <a:latin typeface="Calibri" panose="020F0502020204030204" pitchFamily="34" charset="0"/>
                <a:ea typeface="Calibri" panose="020F0502020204030204" pitchFamily="34" charset="0"/>
                <a:cs typeface="Calibri" panose="020F0502020204030204" pitchFamily="34" charset="0"/>
              </a:rPr>
              <a:t> Schools often rely on manual, subjective judgment instead of data-driven predictions.</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Objectives</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dirty="0">
                <a:latin typeface="Calibri" panose="020F0502020204030204" pitchFamily="34" charset="0"/>
                <a:ea typeface="Calibri" panose="020F0502020204030204" pitchFamily="34" charset="0"/>
                <a:cs typeface="Calibri" panose="020F0502020204030204" pitchFamily="34" charset="0"/>
              </a:rPr>
              <a:t>To collect and organize school-level student dropout data.</a:t>
            </a:r>
          </a:p>
          <a:p>
            <a:pPr lvl="0"/>
            <a:r>
              <a:rPr lang="en-IN" dirty="0">
                <a:latin typeface="Calibri" panose="020F0502020204030204" pitchFamily="34" charset="0"/>
                <a:ea typeface="Calibri" panose="020F0502020204030204" pitchFamily="34" charset="0"/>
                <a:cs typeface="Calibri" panose="020F0502020204030204" pitchFamily="34" charset="0"/>
              </a:rPr>
              <a:t>To categorize dropout data </a:t>
            </a:r>
            <a:r>
              <a:rPr lang="en-IN" b="1" dirty="0">
                <a:latin typeface="Calibri" panose="020F0502020204030204" pitchFamily="34" charset="0"/>
                <a:ea typeface="Calibri" panose="020F0502020204030204" pitchFamily="34" charset="0"/>
                <a:cs typeface="Calibri" panose="020F0502020204030204" pitchFamily="34" charset="0"/>
              </a:rPr>
              <a:t>school-wise, area-wise, gender-wise, caste-wise, and age/standard-wise</a:t>
            </a:r>
            <a:r>
              <a:rPr lang="en-IN" dirty="0">
                <a:latin typeface="Calibri" panose="020F0502020204030204" pitchFamily="34" charset="0"/>
                <a:ea typeface="Calibri" panose="020F0502020204030204" pitchFamily="34" charset="0"/>
                <a:cs typeface="Calibri" panose="020F0502020204030204" pitchFamily="34" charset="0"/>
              </a:rPr>
              <a:t>.</a:t>
            </a:r>
          </a:p>
          <a:p>
            <a:pPr lvl="0"/>
            <a:r>
              <a:rPr lang="en-IN" dirty="0">
                <a:latin typeface="Calibri" panose="020F0502020204030204" pitchFamily="34" charset="0"/>
                <a:ea typeface="Calibri" panose="020F0502020204030204" pitchFamily="34" charset="0"/>
                <a:cs typeface="Calibri" panose="020F0502020204030204" pitchFamily="34" charset="0"/>
              </a:rPr>
              <a:t>To develop a data-driven analysis dashboard for policymakers.</a:t>
            </a:r>
          </a:p>
          <a:p>
            <a:pPr lvl="0"/>
            <a:r>
              <a:rPr lang="en-IN" dirty="0">
                <a:latin typeface="Calibri" panose="020F0502020204030204" pitchFamily="34" charset="0"/>
                <a:ea typeface="Calibri" panose="020F0502020204030204" pitchFamily="34" charset="0"/>
                <a:cs typeface="Calibri" panose="020F0502020204030204" pitchFamily="34" charset="0"/>
              </a:rPr>
              <a:t>To support government planning for </a:t>
            </a:r>
            <a:r>
              <a:rPr lang="en-IN" b="1" dirty="0">
                <a:latin typeface="Calibri" panose="020F0502020204030204" pitchFamily="34" charset="0"/>
                <a:ea typeface="Calibri" panose="020F0502020204030204" pitchFamily="34" charset="0"/>
                <a:cs typeface="Calibri" panose="020F0502020204030204" pitchFamily="34" charset="0"/>
              </a:rPr>
              <a:t>focused interventions</a:t>
            </a:r>
            <a:r>
              <a:rPr lang="en-IN" dirty="0">
                <a:latin typeface="Calibri" panose="020F0502020204030204" pitchFamily="34" charset="0"/>
                <a:ea typeface="Calibri" panose="020F0502020204030204" pitchFamily="34" charset="0"/>
                <a:cs typeface="Calibri" panose="020F0502020204030204" pitchFamily="34" charset="0"/>
              </a:rPr>
              <a:t> in high-risk categories.</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152400" lvl="0" indent="0" algn="just" rtl="0">
              <a:lnSpc>
                <a:spcPct val="200000"/>
              </a:lnSpc>
              <a:spcBef>
                <a:spcPts val="0"/>
              </a:spcBef>
              <a:spcAft>
                <a:spcPts val="0"/>
              </a:spcAft>
              <a:buClr>
                <a:schemeClr val="dk1"/>
              </a:buClr>
              <a:buSzPts val="2400"/>
              <a:buNone/>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Existing Methods and Drawback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7500" lnSpcReduction="20000"/>
          </a:bodyPr>
          <a:lstStyle/>
          <a:p>
            <a:pPr lvl="0"/>
            <a:r>
              <a:rPr lang="en-IN" b="1" dirty="0">
                <a:latin typeface="Calibri" panose="020F0502020204030204" pitchFamily="34" charset="0"/>
                <a:ea typeface="Calibri" panose="020F0502020204030204" pitchFamily="34" charset="0"/>
                <a:cs typeface="Calibri" panose="020F0502020204030204" pitchFamily="34" charset="0"/>
              </a:rPr>
              <a:t>Current Gap:</a:t>
            </a:r>
            <a:r>
              <a:rPr lang="en-IN" dirty="0">
                <a:latin typeface="Calibri" panose="020F0502020204030204" pitchFamily="34" charset="0"/>
                <a:ea typeface="Calibri" panose="020F0502020204030204" pitchFamily="34" charset="0"/>
                <a:cs typeface="Calibri" panose="020F0502020204030204" pitchFamily="34" charset="0"/>
              </a:rPr>
              <a:t> Data exists but is often </a:t>
            </a:r>
            <a:r>
              <a:rPr lang="en-IN" b="1" dirty="0">
                <a:latin typeface="Calibri" panose="020F0502020204030204" pitchFamily="34" charset="0"/>
                <a:ea typeface="Calibri" panose="020F0502020204030204" pitchFamily="34" charset="0"/>
                <a:cs typeface="Calibri" panose="020F0502020204030204" pitchFamily="34" charset="0"/>
              </a:rPr>
              <a:t>fragmented, unstructured, and not categorized</a:t>
            </a:r>
            <a:r>
              <a:rPr lang="en-IN" dirty="0">
                <a:latin typeface="Calibri" panose="020F0502020204030204" pitchFamily="34" charset="0"/>
                <a:ea typeface="Calibri" panose="020F0502020204030204" pitchFamily="34" charset="0"/>
                <a:cs typeface="Calibri" panose="020F0502020204030204" pitchFamily="34" charset="0"/>
              </a:rPr>
              <a:t> for decision-making.</a:t>
            </a:r>
          </a:p>
          <a:p>
            <a:pPr lvl="0"/>
            <a:r>
              <a:rPr lang="en-IN" b="1" dirty="0">
                <a:latin typeface="Calibri" panose="020F0502020204030204" pitchFamily="34" charset="0"/>
                <a:ea typeface="Calibri" panose="020F0502020204030204" pitchFamily="34" charset="0"/>
                <a:cs typeface="Calibri" panose="020F0502020204030204" pitchFamily="34" charset="0"/>
              </a:rPr>
              <a:t>Our Approach:</a:t>
            </a:r>
            <a:r>
              <a:rPr lang="en-IN" dirty="0">
                <a:latin typeface="Calibri" panose="020F0502020204030204" pitchFamily="34" charset="0"/>
                <a:ea typeface="Calibri" panose="020F0502020204030204" pitchFamily="34" charset="0"/>
                <a:cs typeface="Calibri" panose="020F0502020204030204" pitchFamily="34" charset="0"/>
              </a:rPr>
              <a:t> Collect standardized data in the five government-relevant categories and perform statistical analysis + visualization.</a:t>
            </a:r>
          </a:p>
          <a:p>
            <a:pPr lvl="0"/>
            <a:r>
              <a:rPr lang="en-IN" b="1" dirty="0">
                <a:latin typeface="Calibri" panose="020F0502020204030204" pitchFamily="34" charset="0"/>
                <a:ea typeface="Calibri" panose="020F0502020204030204" pitchFamily="34" charset="0"/>
                <a:cs typeface="Calibri" panose="020F0502020204030204" pitchFamily="34" charset="0"/>
              </a:rPr>
              <a:t>Impact:</a:t>
            </a:r>
            <a:r>
              <a:rPr lang="en-IN" dirty="0">
                <a:latin typeface="Calibri" panose="020F0502020204030204" pitchFamily="34" charset="0"/>
                <a:ea typeface="Calibri" panose="020F0502020204030204" pitchFamily="34" charset="0"/>
                <a:cs typeface="Calibri" panose="020F0502020204030204" pitchFamily="34" charset="0"/>
              </a:rPr>
              <a:t> Clear identification of high-dropout pockets and communities, enabling targeted action.</a:t>
            </a:r>
          </a:p>
          <a:p>
            <a:pPr marL="76200" lvl="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200" b="1" u="sng" dirty="0">
                <a:latin typeface="Calibri" panose="020F0502020204030204" pitchFamily="34" charset="0"/>
                <a:ea typeface="Calibri" panose="020F0502020204030204" pitchFamily="34" charset="0"/>
                <a:cs typeface="Calibri" panose="020F0502020204030204" pitchFamily="34" charset="0"/>
              </a:rPr>
              <a:t>Proposed Method :</a:t>
            </a:r>
          </a:p>
          <a:p>
            <a:pPr marL="76200" indent="0">
              <a:buNone/>
            </a:pPr>
            <a:endParaRPr lang="en-IN" sz="2200" u="sng" dirty="0">
              <a:latin typeface="Calibri" panose="020F0502020204030204" pitchFamily="34" charset="0"/>
              <a:ea typeface="Calibri" panose="020F0502020204030204" pitchFamily="34" charset="0"/>
              <a:cs typeface="Calibri" panose="020F0502020204030204" pitchFamily="34" charset="0"/>
            </a:endParaRPr>
          </a:p>
          <a:p>
            <a:pPr marL="76200" lvl="0" indent="0">
              <a:buNone/>
            </a:pPr>
            <a:r>
              <a:rPr lang="en-IN" sz="2200" b="1" dirty="0">
                <a:latin typeface="Calibri" panose="020F0502020204030204" pitchFamily="34" charset="0"/>
                <a:ea typeface="Calibri" panose="020F0502020204030204" pitchFamily="34" charset="0"/>
                <a:cs typeface="Calibri" panose="020F0502020204030204" pitchFamily="34" charset="0"/>
              </a:rPr>
              <a:t>1.Multi-Dimensional Dropout Categorization</a:t>
            </a:r>
            <a:endParaRPr lang="en-IN" sz="2200" dirty="0">
              <a:latin typeface="Calibri" panose="020F0502020204030204" pitchFamily="34" charset="0"/>
              <a:ea typeface="Calibri" panose="020F0502020204030204" pitchFamily="34" charset="0"/>
              <a:cs typeface="Calibri" panose="020F0502020204030204" pitchFamily="34" charset="0"/>
            </a:endParaRPr>
          </a:p>
          <a:p>
            <a:pPr lvl="1"/>
            <a:r>
              <a:rPr lang="en-IN" sz="2200" dirty="0">
                <a:latin typeface="Calibri" panose="020F0502020204030204" pitchFamily="34" charset="0"/>
                <a:ea typeface="Calibri" panose="020F0502020204030204" pitchFamily="34" charset="0"/>
                <a:cs typeface="Calibri" panose="020F0502020204030204" pitchFamily="34" charset="0"/>
              </a:rPr>
              <a:t>Breaks down dropout data into </a:t>
            </a:r>
            <a:r>
              <a:rPr lang="en-IN" sz="2200" b="1" dirty="0">
                <a:latin typeface="Calibri" panose="020F0502020204030204" pitchFamily="34" charset="0"/>
                <a:ea typeface="Calibri" panose="020F0502020204030204" pitchFamily="34" charset="0"/>
                <a:cs typeface="Calibri" panose="020F0502020204030204" pitchFamily="34" charset="0"/>
              </a:rPr>
              <a:t>five key policy-relevant categories</a:t>
            </a:r>
            <a:r>
              <a:rPr lang="en-IN" sz="2200" dirty="0">
                <a:latin typeface="Calibri" panose="020F0502020204030204" pitchFamily="34" charset="0"/>
                <a:ea typeface="Calibri" panose="020F0502020204030204" pitchFamily="34" charset="0"/>
                <a:cs typeface="Calibri" panose="020F0502020204030204" pitchFamily="34" charset="0"/>
              </a:rPr>
              <a:t> — school-wise, area-wise, gender-wise, caste-wise, and age/standard-wise — which is not common in existing government reports.</a:t>
            </a:r>
          </a:p>
          <a:p>
            <a:pPr marL="76200" lvl="0" indent="0">
              <a:buNone/>
            </a:pPr>
            <a:r>
              <a:rPr lang="en-IN" sz="2200" b="1" dirty="0">
                <a:latin typeface="Calibri" panose="020F0502020204030204" pitchFamily="34" charset="0"/>
                <a:ea typeface="Calibri" panose="020F0502020204030204" pitchFamily="34" charset="0"/>
                <a:cs typeface="Calibri" panose="020F0502020204030204" pitchFamily="34" charset="0"/>
              </a:rPr>
              <a:t>2.Interactive Visualization Dashboard</a:t>
            </a:r>
          </a:p>
          <a:p>
            <a:pPr marL="76200" lvl="0" indent="0">
              <a:buNone/>
            </a:pPr>
            <a:r>
              <a:rPr lang="en-IN" sz="2200" dirty="0">
                <a:latin typeface="Calibri" panose="020F0502020204030204" pitchFamily="34" charset="0"/>
                <a:ea typeface="Calibri" panose="020F0502020204030204" pitchFamily="34" charset="0"/>
                <a:cs typeface="Calibri" panose="020F0502020204030204" pitchFamily="34" charset="0"/>
              </a:rPr>
              <a:t>Real-time graphs, heatmaps, and maps that help policymakers quickly identify </a:t>
            </a:r>
            <a:r>
              <a:rPr lang="en-IN" sz="2200" b="1" dirty="0">
                <a:latin typeface="Calibri" panose="020F0502020204030204" pitchFamily="34" charset="0"/>
                <a:ea typeface="Calibri" panose="020F0502020204030204" pitchFamily="34" charset="0"/>
                <a:cs typeface="Calibri" panose="020F0502020204030204" pitchFamily="34" charset="0"/>
              </a:rPr>
              <a:t>high-risk schools and communities</a:t>
            </a:r>
            <a:r>
              <a:rPr lang="en-IN" sz="2200" dirty="0">
                <a:latin typeface="Calibri" panose="020F0502020204030204" pitchFamily="34" charset="0"/>
                <a:ea typeface="Calibri" panose="020F0502020204030204" pitchFamily="34" charset="0"/>
                <a:cs typeface="Calibri" panose="020F0502020204030204" pitchFamily="34" charset="0"/>
              </a:rPr>
              <a:t>.</a:t>
            </a:r>
          </a:p>
          <a:p>
            <a:pPr marL="76200" lvl="0" indent="0">
              <a:buNone/>
            </a:pPr>
            <a:endParaRPr lang="en-IN" sz="2200" dirty="0">
              <a:latin typeface="Calibri" panose="020F0502020204030204" pitchFamily="34" charset="0"/>
              <a:ea typeface="Calibri" panose="020F0502020204030204" pitchFamily="34" charset="0"/>
              <a:cs typeface="Calibri" panose="020F0502020204030204" pitchFamily="34" charset="0"/>
            </a:endParaRPr>
          </a:p>
          <a:p>
            <a:pPr marL="76200" lvl="0" indent="0">
              <a:buNone/>
            </a:pPr>
            <a:r>
              <a:rPr lang="en-IN" sz="2200" b="1" dirty="0">
                <a:latin typeface="Calibri" panose="020F0502020204030204" pitchFamily="34" charset="0"/>
                <a:ea typeface="Calibri" panose="020F0502020204030204" pitchFamily="34" charset="0"/>
                <a:cs typeface="Calibri" panose="020F0502020204030204" pitchFamily="34" charset="0"/>
              </a:rPr>
              <a:t>3.Five-category breakdown</a:t>
            </a:r>
            <a:r>
              <a:rPr lang="en-IN" sz="2200" dirty="0">
                <a:latin typeface="Calibri" panose="020F0502020204030204" pitchFamily="34" charset="0"/>
                <a:ea typeface="Calibri" panose="020F0502020204030204" pitchFamily="34" charset="0"/>
                <a:cs typeface="Calibri" panose="020F0502020204030204" pitchFamily="34" charset="0"/>
              </a:rPr>
              <a:t> of dropout data for precise intervention mapping.</a:t>
            </a:r>
          </a:p>
          <a:p>
            <a:pPr marL="76200" lvl="0" indent="0">
              <a:buNone/>
            </a:pPr>
            <a:endParaRPr lang="en-IN" sz="22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200" b="1" dirty="0">
                <a:latin typeface="Calibri" panose="020F0502020204030204" pitchFamily="34" charset="0"/>
                <a:ea typeface="Calibri" panose="020F0502020204030204" pitchFamily="34" charset="0"/>
                <a:cs typeface="Calibri" panose="020F0502020204030204" pitchFamily="34" charset="0"/>
              </a:rPr>
              <a:t>4.Interactive dashboard</a:t>
            </a:r>
            <a:r>
              <a:rPr lang="en-IN" sz="2200" dirty="0">
                <a:latin typeface="Calibri" panose="020F0502020204030204" pitchFamily="34" charset="0"/>
                <a:ea typeface="Calibri" panose="020F0502020204030204" pitchFamily="34" charset="0"/>
                <a:cs typeface="Calibri" panose="020F0502020204030204" pitchFamily="34" charset="0"/>
              </a:rPr>
              <a:t> for real-time analysis</a:t>
            </a:r>
          </a:p>
          <a:p>
            <a:pPr marL="342900" lvl="0" indent="-190500" algn="just" rtl="0">
              <a:lnSpc>
                <a:spcPct val="200000"/>
              </a:lnSpc>
              <a:spcBef>
                <a:spcPts val="0"/>
              </a:spcBef>
              <a:spcAft>
                <a:spcPts val="0"/>
              </a:spcAft>
              <a:buClr>
                <a:schemeClr val="dk1"/>
              </a:buClr>
              <a:buSzPct val="100000"/>
              <a:buNone/>
            </a:pPr>
            <a:endParaRP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0455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3" name="Text Placeholder 2">
            <a:extLst>
              <a:ext uri="{FF2B5EF4-FFF2-40B4-BE49-F238E27FC236}">
                <a16:creationId xmlns:a16="http://schemas.microsoft.com/office/drawing/2014/main" id="{542CD700-428C-0990-972B-78A464BC0C5E}"/>
              </a:ext>
            </a:extLst>
          </p:cNvPr>
          <p:cNvSpPr>
            <a:spLocks noGrp="1" noChangeArrowheads="1"/>
          </p:cNvSpPr>
          <p:nvPr>
            <p:ph type="body" idx="1"/>
          </p:nvPr>
        </p:nvSpPr>
        <p:spPr bwMode="auto">
          <a:xfrm>
            <a:off x="734140" y="32670"/>
            <a:ext cx="10317317" cy="6165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Feasibility Study :</a:t>
            </a:r>
            <a:endParaRPr lang="en-US" b="1" i="1" dirty="0">
              <a:latin typeface="Calibri" panose="020F0502020204030204" pitchFamily="34" charset="0"/>
              <a:ea typeface="Calibri" panose="020F0502020204030204" pitchFamily="34" charset="0"/>
              <a:cs typeface="Calibri" panose="020F0502020204030204" pitchFamily="34" charset="0"/>
            </a:endParaRPr>
          </a:p>
          <a:p>
            <a:pPr marL="76200" indent="0">
              <a:buNone/>
            </a:pP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1600" b="1" dirty="0">
                <a:latin typeface="Calibri" panose="020F0502020204030204" pitchFamily="34" charset="0"/>
                <a:ea typeface="Calibri" panose="020F0502020204030204" pitchFamily="34" charset="0"/>
                <a:cs typeface="Calibri" panose="020F0502020204030204" pitchFamily="34" charset="0"/>
              </a:rPr>
              <a:t>1. Technical Feasibility</a:t>
            </a:r>
          </a:p>
          <a:p>
            <a:r>
              <a:rPr lang="en-US" sz="1600" dirty="0">
                <a:latin typeface="Calibri" panose="020F0502020204030204" pitchFamily="34" charset="0"/>
                <a:ea typeface="Calibri" panose="020F0502020204030204" pitchFamily="34" charset="0"/>
                <a:cs typeface="Calibri" panose="020F0502020204030204" pitchFamily="34" charset="0"/>
              </a:rPr>
              <a:t>Uses standard technologies: Python, scikit-learn, pandas, </a:t>
            </a:r>
            <a:r>
              <a:rPr lang="en-US" sz="1600" dirty="0" err="1">
                <a:latin typeface="Calibri" panose="020F0502020204030204" pitchFamily="34" charset="0"/>
                <a:ea typeface="Calibri" panose="020F0502020204030204" pitchFamily="34" charset="0"/>
                <a:cs typeface="Calibri" panose="020F0502020204030204" pitchFamily="34" charset="0"/>
              </a:rPr>
              <a:t>Streamlit</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dirty="0">
                <a:latin typeface="Calibri" panose="020F0502020204030204" pitchFamily="34" charset="0"/>
                <a:ea typeface="Calibri" panose="020F0502020204030204" pitchFamily="34" charset="0"/>
                <a:cs typeface="Calibri" panose="020F0502020204030204" pitchFamily="34" charset="0"/>
              </a:rPr>
              <a:t>Can run on a normal laptop (8–16 GB RAM) or free cloud platforms (Google </a:t>
            </a:r>
            <a:r>
              <a:rPr lang="en-US" sz="1600" dirty="0" err="1">
                <a:latin typeface="Calibri" panose="020F0502020204030204" pitchFamily="34" charset="0"/>
                <a:ea typeface="Calibri" panose="020F0502020204030204" pitchFamily="34" charset="0"/>
                <a:cs typeface="Calibri" panose="020F0502020204030204" pitchFamily="34" charset="0"/>
              </a:rPr>
              <a:t>Colab</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dirty="0">
                <a:latin typeface="Calibri" panose="020F0502020204030204" pitchFamily="34" charset="0"/>
                <a:ea typeface="Calibri" panose="020F0502020204030204" pitchFamily="34" charset="0"/>
                <a:cs typeface="Calibri" panose="020F0502020204030204" pitchFamily="34" charset="0"/>
              </a:rPr>
              <a:t>Data sources (UDISE+, school records) are available and can be processed.</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 Hence, </a:t>
            </a:r>
            <a:r>
              <a:rPr lang="en-US" sz="1600" b="1" dirty="0">
                <a:latin typeface="Calibri" panose="020F0502020204030204" pitchFamily="34" charset="0"/>
                <a:ea typeface="Calibri" panose="020F0502020204030204" pitchFamily="34" charset="0"/>
                <a:cs typeface="Calibri" panose="020F0502020204030204" pitchFamily="34" charset="0"/>
              </a:rPr>
              <a:t>technically feasible</a:t>
            </a:r>
            <a:r>
              <a:rPr lang="en-US" sz="1600" dirty="0">
                <a:latin typeface="Calibri" panose="020F0502020204030204" pitchFamily="34" charset="0"/>
                <a:ea typeface="Calibri" panose="020F0502020204030204" pitchFamily="34" charset="0"/>
                <a:cs typeface="Calibri" panose="020F0502020204030204" pitchFamily="34" charset="0"/>
              </a:rPr>
              <a:t>.</a:t>
            </a:r>
          </a:p>
          <a:p>
            <a:pPr marL="76200" indent="0">
              <a:buNone/>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1600" b="1" dirty="0">
                <a:latin typeface="Calibri" panose="020F0502020204030204" pitchFamily="34" charset="0"/>
                <a:ea typeface="Calibri" panose="020F0502020204030204" pitchFamily="34" charset="0"/>
                <a:cs typeface="Calibri" panose="020F0502020204030204" pitchFamily="34" charset="0"/>
              </a:rPr>
              <a:t>2. Economic Feasibility</a:t>
            </a:r>
          </a:p>
          <a:p>
            <a:r>
              <a:rPr lang="en-US" sz="1600" dirty="0">
                <a:latin typeface="Calibri" panose="020F0502020204030204" pitchFamily="34" charset="0"/>
                <a:ea typeface="Calibri" panose="020F0502020204030204" pitchFamily="34" charset="0"/>
                <a:cs typeface="Calibri" panose="020F0502020204030204" pitchFamily="34" charset="0"/>
              </a:rPr>
              <a:t>Open-source tools (Python, scikit-learn).</a:t>
            </a:r>
          </a:p>
          <a:p>
            <a:r>
              <a:rPr lang="en-US" sz="1600" dirty="0">
                <a:latin typeface="Calibri" panose="020F0502020204030204" pitchFamily="34" charset="0"/>
                <a:ea typeface="Calibri" panose="020F0502020204030204" pitchFamily="34" charset="0"/>
                <a:cs typeface="Calibri" panose="020F0502020204030204" pitchFamily="34" charset="0"/>
              </a:rPr>
              <a:t>Free datasets (Government reports, World Bank data).</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Hence, </a:t>
            </a:r>
            <a:r>
              <a:rPr lang="en-US" sz="1600" b="1" dirty="0">
                <a:latin typeface="Calibri" panose="020F0502020204030204" pitchFamily="34" charset="0"/>
                <a:ea typeface="Calibri" panose="020F0502020204030204" pitchFamily="34" charset="0"/>
                <a:cs typeface="Calibri" panose="020F0502020204030204" pitchFamily="34" charset="0"/>
              </a:rPr>
              <a:t>cost-effective</a:t>
            </a:r>
            <a:r>
              <a:rPr lang="en-US" sz="1600" dirty="0">
                <a:latin typeface="Calibri" panose="020F0502020204030204" pitchFamily="34" charset="0"/>
                <a:ea typeface="Calibri" panose="020F0502020204030204" pitchFamily="34" charset="0"/>
                <a:cs typeface="Calibri" panose="020F0502020204030204" pitchFamily="34" charset="0"/>
              </a:rPr>
              <a:t> — no additional cost beyond regular student resources.</a:t>
            </a:r>
          </a:p>
          <a:p>
            <a:pPr marL="76200" indent="0">
              <a:buNone/>
            </a:pPr>
            <a:endParaRPr lang="en-US" sz="16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1600" b="1" dirty="0">
                <a:latin typeface="Calibri" panose="020F0502020204030204" pitchFamily="34" charset="0"/>
                <a:ea typeface="Calibri" panose="020F0502020204030204" pitchFamily="34" charset="0"/>
                <a:cs typeface="Calibri" panose="020F0502020204030204" pitchFamily="34" charset="0"/>
              </a:rPr>
              <a:t>3. Operational Feasibility</a:t>
            </a:r>
          </a:p>
          <a:p>
            <a:r>
              <a:rPr lang="en-US" sz="1600" dirty="0">
                <a:latin typeface="Calibri" panose="020F0502020204030204" pitchFamily="34" charset="0"/>
                <a:ea typeface="Calibri" panose="020F0502020204030204" pitchFamily="34" charset="0"/>
                <a:cs typeface="Calibri" panose="020F0502020204030204" pitchFamily="34" charset="0"/>
              </a:rPr>
              <a:t>The system can be easily used by school administrators, teachers, and policymakers.</a:t>
            </a:r>
          </a:p>
          <a:p>
            <a:r>
              <a:rPr lang="en-US" sz="1600" dirty="0">
                <a:latin typeface="Calibri" panose="020F0502020204030204" pitchFamily="34" charset="0"/>
                <a:ea typeface="Calibri" panose="020F0502020204030204" pitchFamily="34" charset="0"/>
                <a:cs typeface="Calibri" panose="020F0502020204030204" pitchFamily="34" charset="0"/>
              </a:rPr>
              <a:t>Provides simple reports and dashboards for dropout risk analysis.</a:t>
            </a:r>
          </a:p>
          <a:p>
            <a:r>
              <a:rPr lang="en-US" sz="1600" dirty="0">
                <a:latin typeface="Calibri" panose="020F0502020204030204" pitchFamily="34" charset="0"/>
                <a:ea typeface="Calibri" panose="020F0502020204030204" pitchFamily="34" charset="0"/>
                <a:cs typeface="Calibri" panose="020F0502020204030204" pitchFamily="34" charset="0"/>
              </a:rPr>
              <a:t>Can be extended with recommendations for interventions.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Hence, </a:t>
            </a:r>
            <a:r>
              <a:rPr lang="en-US" sz="1600" b="1" dirty="0">
                <a:latin typeface="Calibri" panose="020F0502020204030204" pitchFamily="34" charset="0"/>
                <a:ea typeface="Calibri" panose="020F0502020204030204" pitchFamily="34" charset="0"/>
                <a:cs typeface="Calibri" panose="020F0502020204030204" pitchFamily="34" charset="0"/>
              </a:rPr>
              <a:t>operationally useful and implementable</a:t>
            </a:r>
            <a:r>
              <a:rPr lang="en-US" sz="1600" dirty="0">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67B866C6-E72A-7D23-4E69-27182A0BD703}"/>
              </a:ext>
            </a:extLst>
          </p:cNvPr>
          <p:cNvPicPr>
            <a:picLocks noChangeAspect="1"/>
          </p:cNvPicPr>
          <p:nvPr/>
        </p:nvPicPr>
        <p:blipFill>
          <a:blip r:embed="rId3"/>
          <a:stretch>
            <a:fillRect/>
          </a:stretch>
        </p:blipFill>
        <p:spPr>
          <a:xfrm>
            <a:off x="2290915" y="1143000"/>
            <a:ext cx="7570839" cy="4953000"/>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Technology Stack Components/Modules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1. Data Collection &amp; Processing</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Python</a:t>
            </a:r>
            <a:r>
              <a:rPr lang="en-IN" dirty="0">
                <a:latin typeface="Calibri" panose="020F0502020204030204" pitchFamily="34" charset="0"/>
                <a:ea typeface="Calibri" panose="020F0502020204030204" pitchFamily="34" charset="0"/>
                <a:cs typeface="Calibri" panose="020F0502020204030204" pitchFamily="34" charset="0"/>
              </a:rPr>
              <a:t> – Core language for data handling</a:t>
            </a:r>
          </a:p>
          <a:p>
            <a:pPr lvl="0"/>
            <a:r>
              <a:rPr lang="en-IN" b="1" dirty="0">
                <a:latin typeface="Calibri" panose="020F0502020204030204" pitchFamily="34" charset="0"/>
                <a:ea typeface="Calibri" panose="020F0502020204030204" pitchFamily="34" charset="0"/>
                <a:cs typeface="Calibri" panose="020F0502020204030204" pitchFamily="34" charset="0"/>
              </a:rPr>
              <a:t>Pandas</a:t>
            </a:r>
            <a:r>
              <a:rPr lang="en-IN" dirty="0">
                <a:latin typeface="Calibri" panose="020F0502020204030204" pitchFamily="34" charset="0"/>
                <a:ea typeface="Calibri" panose="020F0502020204030204" pitchFamily="34" charset="0"/>
                <a:cs typeface="Calibri" panose="020F0502020204030204" pitchFamily="34" charset="0"/>
              </a:rPr>
              <a:t> – Data frame operations (group by, filtering, aggregation)</a:t>
            </a:r>
          </a:p>
          <a:p>
            <a:pPr lvl="0"/>
            <a:r>
              <a:rPr lang="en-IN" b="1" dirty="0">
                <a:latin typeface="Calibri" panose="020F0502020204030204" pitchFamily="34" charset="0"/>
                <a:ea typeface="Calibri" panose="020F0502020204030204" pitchFamily="34" charset="0"/>
                <a:cs typeface="Calibri" panose="020F0502020204030204" pitchFamily="34" charset="0"/>
              </a:rPr>
              <a:t>NumPy</a:t>
            </a:r>
            <a:r>
              <a:rPr lang="en-IN" dirty="0">
                <a:latin typeface="Calibri" panose="020F0502020204030204" pitchFamily="34" charset="0"/>
                <a:ea typeface="Calibri" panose="020F0502020204030204" pitchFamily="34" charset="0"/>
                <a:cs typeface="Calibri" panose="020F0502020204030204" pitchFamily="34" charset="0"/>
              </a:rPr>
              <a:t> – Numerical computations</a:t>
            </a: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2. Data Visualization</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Matplotlib</a:t>
            </a:r>
            <a:r>
              <a:rPr lang="en-IN" dirty="0">
                <a:latin typeface="Calibri" panose="020F0502020204030204" pitchFamily="34" charset="0"/>
                <a:ea typeface="Calibri" panose="020F0502020204030204" pitchFamily="34" charset="0"/>
                <a:cs typeface="Calibri" panose="020F0502020204030204" pitchFamily="34" charset="0"/>
              </a:rPr>
              <a:t> – Basic charts (bar, line, pie)</a:t>
            </a:r>
          </a:p>
          <a:p>
            <a:pPr lvl="0"/>
            <a:r>
              <a:rPr lang="en-IN" b="1" dirty="0">
                <a:latin typeface="Calibri" panose="020F0502020204030204" pitchFamily="34" charset="0"/>
                <a:ea typeface="Calibri" panose="020F0502020204030204" pitchFamily="34" charset="0"/>
                <a:cs typeface="Calibri" panose="020F0502020204030204" pitchFamily="34" charset="0"/>
              </a:rPr>
              <a:t>Seaborn</a:t>
            </a:r>
            <a:r>
              <a:rPr lang="en-IN" dirty="0">
                <a:latin typeface="Calibri" panose="020F0502020204030204" pitchFamily="34" charset="0"/>
                <a:ea typeface="Calibri" panose="020F0502020204030204" pitchFamily="34" charset="0"/>
                <a:cs typeface="Calibri" panose="020F0502020204030204" pitchFamily="34" charset="0"/>
              </a:rPr>
              <a:t> – Statistical visualizations</a:t>
            </a:r>
          </a:p>
          <a:p>
            <a:pPr lvl="0"/>
            <a:r>
              <a:rPr lang="en-IN" b="1" dirty="0">
                <a:latin typeface="Calibri" panose="020F0502020204030204" pitchFamily="34" charset="0"/>
                <a:ea typeface="Calibri" panose="020F0502020204030204" pitchFamily="34" charset="0"/>
                <a:cs typeface="Calibri" panose="020F0502020204030204" pitchFamily="34" charset="0"/>
              </a:rPr>
              <a:t>Plotly </a:t>
            </a:r>
            <a:r>
              <a:rPr lang="en-IN" dirty="0">
                <a:latin typeface="Calibri" panose="020F0502020204030204" pitchFamily="34" charset="0"/>
                <a:ea typeface="Calibri" panose="020F0502020204030204" pitchFamily="34" charset="0"/>
                <a:cs typeface="Calibri" panose="020F0502020204030204" pitchFamily="34" charset="0"/>
              </a:rPr>
              <a:t> – Interactive dashboards</a:t>
            </a:r>
          </a:p>
          <a:p>
            <a:pPr lvl="0"/>
            <a:r>
              <a:rPr lang="en-IN" b="1" dirty="0">
                <a:latin typeface="Calibri" panose="020F0502020204030204" pitchFamily="34" charset="0"/>
                <a:ea typeface="Calibri" panose="020F0502020204030204" pitchFamily="34" charset="0"/>
                <a:cs typeface="Calibri" panose="020F0502020204030204" pitchFamily="34" charset="0"/>
              </a:rPr>
              <a:t>Scikit-learn</a:t>
            </a:r>
            <a:r>
              <a:rPr lang="en-IN" dirty="0">
                <a:latin typeface="Calibri" panose="020F0502020204030204" pitchFamily="34" charset="0"/>
                <a:ea typeface="Calibri" panose="020F0502020204030204" pitchFamily="34" charset="0"/>
                <a:cs typeface="Calibri" panose="020F0502020204030204" pitchFamily="34" charset="0"/>
              </a:rPr>
              <a:t>-for various ML algorithms</a:t>
            </a: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3. Storage</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MySQL</a:t>
            </a:r>
            <a:r>
              <a:rPr lang="en-IN" dirty="0">
                <a:latin typeface="Calibri" panose="020F0502020204030204" pitchFamily="34" charset="0"/>
                <a:ea typeface="Calibri" panose="020F0502020204030204" pitchFamily="34" charset="0"/>
                <a:cs typeface="Calibri" panose="020F0502020204030204" pitchFamily="34" charset="0"/>
              </a:rPr>
              <a:t>– Storing structured dropout records</a:t>
            </a: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4. Web/Dashboard Development (OPTIONAL)</a:t>
            </a:r>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Flask / Django</a:t>
            </a:r>
            <a:r>
              <a:rPr lang="en-IN" dirty="0">
                <a:latin typeface="Calibri" panose="020F0502020204030204" pitchFamily="34" charset="0"/>
                <a:ea typeface="Calibri" panose="020F0502020204030204" pitchFamily="34" charset="0"/>
                <a:cs typeface="Calibri" panose="020F0502020204030204" pitchFamily="34" charset="0"/>
              </a:rPr>
              <a:t> – Backend for serving analysis results</a:t>
            </a:r>
          </a:p>
          <a:p>
            <a:pPr lvl="0"/>
            <a:r>
              <a:rPr lang="en-IN" b="1" dirty="0">
                <a:latin typeface="Calibri" panose="020F0502020204030204" pitchFamily="34" charset="0"/>
                <a:ea typeface="Calibri" panose="020F0502020204030204" pitchFamily="34" charset="0"/>
                <a:cs typeface="Calibri" panose="020F0502020204030204" pitchFamily="34" charset="0"/>
              </a:rPr>
              <a:t>React.js / HTML-CSS-JS</a:t>
            </a:r>
            <a:r>
              <a:rPr lang="en-IN" dirty="0">
                <a:latin typeface="Calibri" panose="020F0502020204030204" pitchFamily="34" charset="0"/>
                <a:ea typeface="Calibri" panose="020F0502020204030204" pitchFamily="34" charset="0"/>
                <a:cs typeface="Calibri" panose="020F0502020204030204" pitchFamily="34" charset="0"/>
              </a:rPr>
              <a:t> – Frontend for interactive visualizations</a:t>
            </a: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5. Hosting &amp; Deployment</a:t>
            </a:r>
            <a:endParaRPr lang="en-IN" dirty="0">
              <a:latin typeface="Calibri" panose="020F0502020204030204" pitchFamily="34" charset="0"/>
              <a:ea typeface="Calibri" panose="020F0502020204030204" pitchFamily="34" charset="0"/>
              <a:cs typeface="Calibri" panose="020F0502020204030204" pitchFamily="34" charset="0"/>
            </a:endParaRPr>
          </a:p>
          <a:p>
            <a:r>
              <a:rPr lang="en-IN" b="1" dirty="0">
                <a:latin typeface="Calibri" panose="020F0502020204030204" pitchFamily="34" charset="0"/>
                <a:ea typeface="Calibri" panose="020F0502020204030204" pitchFamily="34" charset="0"/>
                <a:cs typeface="Calibri" panose="020F0502020204030204" pitchFamily="34" charset="0"/>
              </a:rPr>
              <a:t>Stream lit</a:t>
            </a:r>
            <a:r>
              <a:rPr lang="en-IN" dirty="0">
                <a:latin typeface="Calibri" panose="020F0502020204030204" pitchFamily="34" charset="0"/>
                <a:ea typeface="Calibri" panose="020F0502020204030204" pitchFamily="34" charset="0"/>
                <a:cs typeface="Calibri" panose="020F0502020204030204" pitchFamily="34" charset="0"/>
              </a:rPr>
              <a:t> – Quick deployment of interactive data apps</a:t>
            </a:r>
          </a:p>
          <a:p>
            <a:pPr lvl="0"/>
            <a:r>
              <a:rPr lang="en-IN" b="1" dirty="0">
                <a:latin typeface="Calibri" panose="020F0502020204030204" pitchFamily="34" charset="0"/>
                <a:ea typeface="Calibri" panose="020F0502020204030204" pitchFamily="34" charset="0"/>
                <a:cs typeface="Calibri" panose="020F0502020204030204" pitchFamily="34" charset="0"/>
              </a:rPr>
              <a:t>GitHub</a:t>
            </a:r>
            <a:r>
              <a:rPr lang="en-IN" dirty="0">
                <a:latin typeface="Calibri" panose="020F0502020204030204" pitchFamily="34" charset="0"/>
                <a:ea typeface="Calibri" panose="020F0502020204030204" pitchFamily="34" charset="0"/>
                <a:cs typeface="Calibri" panose="020F0502020204030204" pitchFamily="34" charset="0"/>
              </a:rPr>
              <a:t> – Version control and public repository access</a:t>
            </a:r>
          </a:p>
          <a:p>
            <a:pPr marL="342900" lvl="0" indent="-190500" algn="just" rtl="0">
              <a:lnSpc>
                <a:spcPct val="200000"/>
              </a:lnSpc>
              <a:spcBef>
                <a:spcPts val="0"/>
              </a:spcBef>
              <a:spcAft>
                <a:spcPts val="0"/>
              </a:spcAft>
              <a:buClr>
                <a:schemeClr val="dk1"/>
              </a:buClr>
              <a:buSzPct val="100000"/>
              <a:buNone/>
            </a:pPr>
            <a:endParaRP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30816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DFF9A02-32C6-D399-583F-D56F1090BDFF}"/>
            </a:ext>
          </a:extLst>
        </p:cNvPr>
        <p:cNvGrpSpPr/>
        <p:nvPr/>
      </p:nvGrpSpPr>
      <p:grpSpPr>
        <a:xfrm>
          <a:off x="0" y="0"/>
          <a:ext cx="0" cy="0"/>
          <a:chOff x="0" y="0"/>
          <a:chExt cx="0" cy="0"/>
        </a:xfrm>
      </p:grpSpPr>
      <p:sp>
        <p:nvSpPr>
          <p:cNvPr id="115" name="Google Shape;115;p17">
            <a:extLst>
              <a:ext uri="{FF2B5EF4-FFF2-40B4-BE49-F238E27FC236}">
                <a16:creationId xmlns:a16="http://schemas.microsoft.com/office/drawing/2014/main" id="{490BA5AA-93FA-F4AB-FF6C-D7120B60A3E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b="1" u="sng" dirty="0">
                <a:latin typeface="Cambria" panose="02040503050406030204" pitchFamily="18" charset="0"/>
                <a:ea typeface="Cambria" panose="02040503050406030204" pitchFamily="18" charset="0"/>
              </a:rPr>
              <a:t>Hardware and Software Requirements: </a:t>
            </a:r>
            <a:endParaRPr lang="en-IN" b="1" u="sng" dirty="0"/>
          </a:p>
          <a:p>
            <a:r>
              <a:rPr lang="en-IN" b="1" dirty="0">
                <a:latin typeface="Calibri" panose="020F0502020204030204" pitchFamily="34" charset="0"/>
                <a:ea typeface="Calibri" panose="020F0502020204030204" pitchFamily="34" charset="0"/>
                <a:cs typeface="Calibri" panose="020F0502020204030204" pitchFamily="34" charset="0"/>
              </a:rPr>
              <a:t>Operating System:</a:t>
            </a:r>
            <a:r>
              <a:rPr lang="en-IN" dirty="0">
                <a:latin typeface="Calibri" panose="020F0502020204030204" pitchFamily="34" charset="0"/>
                <a:ea typeface="Calibri" panose="020F0502020204030204" pitchFamily="34" charset="0"/>
                <a:cs typeface="Calibri" panose="020F0502020204030204" pitchFamily="34" charset="0"/>
              </a:rPr>
              <a:t> Windows 10 later</a:t>
            </a:r>
          </a:p>
          <a:p>
            <a:r>
              <a:rPr lang="en-IN" b="1" dirty="0">
                <a:latin typeface="Calibri" panose="020F0502020204030204" pitchFamily="34" charset="0"/>
                <a:ea typeface="Calibri" panose="020F0502020204030204" pitchFamily="34" charset="0"/>
                <a:cs typeface="Calibri" panose="020F0502020204030204" pitchFamily="34" charset="0"/>
              </a:rPr>
              <a:t>Programming Language:</a:t>
            </a:r>
            <a:r>
              <a:rPr lang="en-IN" dirty="0">
                <a:latin typeface="Calibri" panose="020F0502020204030204" pitchFamily="34" charset="0"/>
                <a:ea typeface="Calibri" panose="020F0502020204030204" pitchFamily="34" charset="0"/>
                <a:cs typeface="Calibri" panose="020F0502020204030204" pitchFamily="34" charset="0"/>
              </a:rPr>
              <a:t> Python 3.9+</a:t>
            </a:r>
          </a:p>
          <a:p>
            <a:r>
              <a:rPr lang="en-IN" b="1" dirty="0">
                <a:latin typeface="Calibri" panose="020F0502020204030204" pitchFamily="34" charset="0"/>
                <a:ea typeface="Calibri" panose="020F0502020204030204" pitchFamily="34" charset="0"/>
                <a:cs typeface="Calibri" panose="020F0502020204030204" pitchFamily="34" charset="0"/>
              </a:rPr>
              <a:t>Libraries &amp; Frameworks:</a:t>
            </a:r>
            <a:r>
              <a:rPr lang="en-IN" dirty="0">
                <a:latin typeface="Calibri" panose="020F0502020204030204" pitchFamily="34" charset="0"/>
                <a:ea typeface="Calibri" panose="020F0502020204030204" pitchFamily="34" charset="0"/>
                <a:cs typeface="Calibri" panose="020F0502020204030204" pitchFamily="34" charset="0"/>
              </a:rPr>
              <a:t> Pandas, NumPy, Matplotlib, Seaborn, Plotly/Stream lit</a:t>
            </a:r>
          </a:p>
          <a:p>
            <a:r>
              <a:rPr lang="en-IN" b="1" dirty="0">
                <a:latin typeface="Calibri" panose="020F0502020204030204" pitchFamily="34" charset="0"/>
                <a:ea typeface="Calibri" panose="020F0502020204030204" pitchFamily="34" charset="0"/>
                <a:cs typeface="Calibri" panose="020F0502020204030204" pitchFamily="34" charset="0"/>
              </a:rPr>
              <a:t>Database:</a:t>
            </a:r>
            <a:r>
              <a:rPr lang="en-IN" dirty="0">
                <a:latin typeface="Calibri" panose="020F0502020204030204" pitchFamily="34" charset="0"/>
                <a:ea typeface="Calibri" panose="020F0502020204030204" pitchFamily="34" charset="0"/>
                <a:cs typeface="Calibri" panose="020F0502020204030204" pitchFamily="34" charset="0"/>
              </a:rPr>
              <a:t> MySQL </a:t>
            </a:r>
          </a:p>
          <a:p>
            <a:r>
              <a:rPr lang="en-IN" b="1" dirty="0">
                <a:latin typeface="Calibri" panose="020F0502020204030204" pitchFamily="34" charset="0"/>
                <a:ea typeface="Calibri" panose="020F0502020204030204" pitchFamily="34" charset="0"/>
                <a:cs typeface="Calibri" panose="020F0502020204030204" pitchFamily="34" charset="0"/>
              </a:rPr>
              <a:t>Version Control:</a:t>
            </a:r>
            <a:r>
              <a:rPr lang="en-IN" dirty="0">
                <a:latin typeface="Calibri" panose="020F0502020204030204" pitchFamily="34" charset="0"/>
                <a:ea typeface="Calibri" panose="020F0502020204030204" pitchFamily="34" charset="0"/>
                <a:cs typeface="Calibri" panose="020F0502020204030204" pitchFamily="34" charset="0"/>
              </a:rPr>
              <a:t> Git + GitHub (public repository access)</a:t>
            </a:r>
          </a:p>
          <a:p>
            <a:r>
              <a:rPr lang="en-IN" b="1" dirty="0">
                <a:latin typeface="Calibri" panose="020F0502020204030204" pitchFamily="34" charset="0"/>
                <a:ea typeface="Calibri" panose="020F0502020204030204" pitchFamily="34" charset="0"/>
                <a:cs typeface="Calibri" panose="020F0502020204030204" pitchFamily="34" charset="0"/>
              </a:rPr>
              <a:t>IDE / Tools:</a:t>
            </a:r>
            <a:r>
              <a:rPr lang="en-IN" dirty="0">
                <a:latin typeface="Calibri" panose="020F0502020204030204" pitchFamily="34" charset="0"/>
                <a:ea typeface="Calibri" panose="020F0502020204030204" pitchFamily="34" charset="0"/>
                <a:cs typeface="Calibri" panose="020F0502020204030204" pitchFamily="34" charset="0"/>
              </a:rPr>
              <a:t> Jupyter Notebook, Google colab, VS Code, Excel</a:t>
            </a:r>
          </a:p>
          <a:p>
            <a:r>
              <a:rPr lang="en-IN" b="1" dirty="0">
                <a:latin typeface="Calibri" panose="020F0502020204030204" pitchFamily="34" charset="0"/>
                <a:ea typeface="Calibri" panose="020F0502020204030204" pitchFamily="34" charset="0"/>
                <a:cs typeface="Calibri" panose="020F0502020204030204" pitchFamily="34" charset="0"/>
              </a:rPr>
              <a:t>Browser:</a:t>
            </a:r>
            <a:r>
              <a:rPr lang="en-IN" dirty="0">
                <a:latin typeface="Calibri" panose="020F0502020204030204" pitchFamily="34" charset="0"/>
                <a:ea typeface="Calibri" panose="020F0502020204030204" pitchFamily="34" charset="0"/>
                <a:cs typeface="Calibri" panose="020F0502020204030204" pitchFamily="34" charset="0"/>
              </a:rPr>
              <a:t> Google Chrome / Mozilla Firefox (for dashboard access)</a:t>
            </a:r>
          </a:p>
          <a:p>
            <a:r>
              <a:rPr lang="en-US" altLang="en-US" b="1" dirty="0">
                <a:solidFill>
                  <a:schemeClr val="tx1"/>
                </a:solidFill>
                <a:latin typeface="Arial" panose="020B0604020202020204" pitchFamily="34" charset="0"/>
              </a:rPr>
              <a:t>GPU: Google </a:t>
            </a:r>
            <a:r>
              <a:rPr lang="en-US" altLang="en-US" b="1" dirty="0" err="1">
                <a:solidFill>
                  <a:schemeClr val="tx1"/>
                </a:solidFill>
                <a:latin typeface="Arial" panose="020B0604020202020204" pitchFamily="34" charset="0"/>
              </a:rPr>
              <a:t>Colab</a:t>
            </a:r>
            <a:r>
              <a:rPr lang="en-US" altLang="en-US" b="1" dirty="0">
                <a:solidFill>
                  <a:schemeClr val="tx1"/>
                </a:solidFill>
                <a:latin typeface="Arial" panose="020B0604020202020204" pitchFamily="34" charset="0"/>
              </a:rPr>
              <a:t> free GPU</a:t>
            </a:r>
            <a:r>
              <a:rPr lang="en-US" altLang="en-US" dirty="0">
                <a:solidFill>
                  <a:schemeClr val="tx1"/>
                </a:solidFill>
                <a:latin typeface="Arial" panose="020B0604020202020204" pitchFamily="34" charset="0"/>
              </a:rPr>
              <a:t> is enough.</a:t>
            </a:r>
          </a:p>
          <a:p>
            <a:r>
              <a:rPr lang="en-US" altLang="en-US" b="1" dirty="0">
                <a:solidFill>
                  <a:schemeClr val="tx1"/>
                </a:solidFill>
                <a:latin typeface="Arial" panose="020B0604020202020204" pitchFamily="34" charset="0"/>
              </a:rPr>
              <a:t>Storage:</a:t>
            </a:r>
            <a:r>
              <a:rPr lang="en-US" altLang="en-US" dirty="0">
                <a:solidFill>
                  <a:schemeClr val="tx1"/>
                </a:solidFill>
                <a:latin typeface="Arial" panose="020B0604020202020204" pitchFamily="34" charset="0"/>
              </a:rPr>
              <a:t> At least 20–50 GB free (for datasets + software).</a:t>
            </a:r>
          </a:p>
          <a:p>
            <a:endParaRPr lang="en-US" altLang="en-US" dirty="0">
              <a:solidFill>
                <a:schemeClr val="tx1"/>
              </a:solidFill>
              <a:latin typeface="Arial" panose="020B0604020202020204" pitchFamily="34" charset="0"/>
            </a:endParaRPr>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8785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B6E6E-CDDF-2B54-BA53-B9FAFC1BFAF1}"/>
              </a:ext>
            </a:extLst>
          </p:cNvPr>
          <p:cNvSpPr>
            <a:spLocks noGrp="1"/>
          </p:cNvSpPr>
          <p:nvPr>
            <p:ph type="title"/>
          </p:nvPr>
        </p:nvSpPr>
        <p:spPr/>
        <p:txBody>
          <a:bodyPr/>
          <a:lstStyle/>
          <a:p>
            <a:r>
              <a:rPr lang="en-IN" dirty="0"/>
              <a:t>Background and Related Work</a:t>
            </a:r>
          </a:p>
        </p:txBody>
      </p:sp>
      <p:sp>
        <p:nvSpPr>
          <p:cNvPr id="3" name="Text Placeholder 2">
            <a:extLst>
              <a:ext uri="{FF2B5EF4-FFF2-40B4-BE49-F238E27FC236}">
                <a16:creationId xmlns:a16="http://schemas.microsoft.com/office/drawing/2014/main" id="{CA34D697-9E6D-B561-92EE-8D46FD0FFAF7}"/>
              </a:ext>
            </a:extLst>
          </p:cNvPr>
          <p:cNvSpPr>
            <a:spLocks noGrp="1"/>
          </p:cNvSpPr>
          <p:nvPr>
            <p:ph type="body" idx="1"/>
          </p:nvPr>
        </p:nvSpPr>
        <p:spPr/>
        <p:txBody>
          <a:bodyPr>
            <a:normAutofit/>
          </a:bodyPr>
          <a:lstStyle/>
          <a:p>
            <a:r>
              <a:rPr lang="en-IN" dirty="0">
                <a:latin typeface="Calibri" panose="020F0502020204030204" pitchFamily="34" charset="0"/>
                <a:ea typeface="Calibri" panose="020F0502020204030204" pitchFamily="34" charset="0"/>
                <a:cs typeface="Calibri" panose="020F0502020204030204" pitchFamily="34" charset="0"/>
              </a:rPr>
              <a:t>[1] S. Singh and R. Sharma, “Analysis of factors influencing school dropouts in rural India,” </a:t>
            </a:r>
            <a:r>
              <a:rPr lang="en-IN" i="1" dirty="0">
                <a:latin typeface="Calibri" panose="020F0502020204030204" pitchFamily="34" charset="0"/>
                <a:ea typeface="Calibri" panose="020F0502020204030204" pitchFamily="34" charset="0"/>
                <a:cs typeface="Calibri" panose="020F0502020204030204" pitchFamily="34" charset="0"/>
              </a:rPr>
              <a:t>IEEE Access</a:t>
            </a:r>
            <a:r>
              <a:rPr lang="en-IN" dirty="0">
                <a:latin typeface="Calibri" panose="020F0502020204030204" pitchFamily="34" charset="0"/>
                <a:ea typeface="Calibri" panose="020F0502020204030204" pitchFamily="34" charset="0"/>
                <a:cs typeface="Calibri" panose="020F0502020204030204" pitchFamily="34" charset="0"/>
              </a:rPr>
              <a:t>, vol. 10, pp. 45231–45240, 2022.</a:t>
            </a:r>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[2] A. Gupta, M. Khan, and P. Verma, “Predictive modelling for student retention using socio-economic indicators,” in </a:t>
            </a:r>
            <a:r>
              <a:rPr lang="en-IN" i="1" dirty="0">
                <a:latin typeface="Calibri" panose="020F0502020204030204" pitchFamily="34" charset="0"/>
                <a:ea typeface="Calibri" panose="020F0502020204030204" pitchFamily="34" charset="0"/>
                <a:cs typeface="Calibri" panose="020F0502020204030204" pitchFamily="34" charset="0"/>
              </a:rPr>
              <a:t>Proc. IEEE Int. Conf. Data Sci. and Eng.</a:t>
            </a:r>
            <a:r>
              <a:rPr lang="en-IN" dirty="0">
                <a:latin typeface="Calibri" panose="020F0502020204030204" pitchFamily="34" charset="0"/>
                <a:ea typeface="Calibri" panose="020F0502020204030204" pitchFamily="34" charset="0"/>
                <a:cs typeface="Calibri" panose="020F0502020204030204" pitchFamily="34" charset="0"/>
              </a:rPr>
              <a:t>, pp. 215–220, Dec. 2021.</a:t>
            </a:r>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7497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WEEK-8</a:t>
            </a:r>
            <a:endParaRPr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C1222C17-E2A3-6280-7865-C46EEE3FAE65}"/>
              </a:ext>
            </a:extLst>
          </p:cNvPr>
          <p:cNvGraphicFramePr>
            <a:graphicFrameLocks noGrp="1"/>
          </p:cNvGraphicFramePr>
          <p:nvPr>
            <p:extLst>
              <p:ext uri="{D42A27DB-BD31-4B8C-83A1-F6EECF244321}">
                <p14:modId xmlns:p14="http://schemas.microsoft.com/office/powerpoint/2010/main" val="381259293"/>
              </p:ext>
            </p:extLst>
          </p:nvPr>
        </p:nvGraphicFramePr>
        <p:xfrm>
          <a:off x="1232311" y="1615453"/>
          <a:ext cx="8904744" cy="4345858"/>
        </p:xfrm>
        <a:graphic>
          <a:graphicData uri="http://schemas.openxmlformats.org/drawingml/2006/table">
            <a:tbl>
              <a:tblPr firstRow="1" firstCol="1" bandRow="1">
                <a:tableStyleId>{3B4B98B0-60AC-42C2-AFA5-B58CD77FA1E5}</a:tableStyleId>
              </a:tblPr>
              <a:tblGrid>
                <a:gridCol w="1225754">
                  <a:extLst>
                    <a:ext uri="{9D8B030D-6E8A-4147-A177-3AD203B41FA5}">
                      <a16:colId xmlns:a16="http://schemas.microsoft.com/office/drawing/2014/main" val="910331931"/>
                    </a:ext>
                  </a:extLst>
                </a:gridCol>
                <a:gridCol w="753078">
                  <a:extLst>
                    <a:ext uri="{9D8B030D-6E8A-4147-A177-3AD203B41FA5}">
                      <a16:colId xmlns:a16="http://schemas.microsoft.com/office/drawing/2014/main" val="883094763"/>
                    </a:ext>
                  </a:extLst>
                </a:gridCol>
                <a:gridCol w="989416">
                  <a:extLst>
                    <a:ext uri="{9D8B030D-6E8A-4147-A177-3AD203B41FA5}">
                      <a16:colId xmlns:a16="http://schemas.microsoft.com/office/drawing/2014/main" val="1135233679"/>
                    </a:ext>
                  </a:extLst>
                </a:gridCol>
                <a:gridCol w="989416">
                  <a:extLst>
                    <a:ext uri="{9D8B030D-6E8A-4147-A177-3AD203B41FA5}">
                      <a16:colId xmlns:a16="http://schemas.microsoft.com/office/drawing/2014/main" val="1564290111"/>
                    </a:ext>
                  </a:extLst>
                </a:gridCol>
                <a:gridCol w="989416">
                  <a:extLst>
                    <a:ext uri="{9D8B030D-6E8A-4147-A177-3AD203B41FA5}">
                      <a16:colId xmlns:a16="http://schemas.microsoft.com/office/drawing/2014/main" val="2882430554"/>
                    </a:ext>
                  </a:extLst>
                </a:gridCol>
                <a:gridCol w="989416">
                  <a:extLst>
                    <a:ext uri="{9D8B030D-6E8A-4147-A177-3AD203B41FA5}">
                      <a16:colId xmlns:a16="http://schemas.microsoft.com/office/drawing/2014/main" val="1334644594"/>
                    </a:ext>
                  </a:extLst>
                </a:gridCol>
                <a:gridCol w="989416">
                  <a:extLst>
                    <a:ext uri="{9D8B030D-6E8A-4147-A177-3AD203B41FA5}">
                      <a16:colId xmlns:a16="http://schemas.microsoft.com/office/drawing/2014/main" val="3682181519"/>
                    </a:ext>
                  </a:extLst>
                </a:gridCol>
                <a:gridCol w="989416">
                  <a:extLst>
                    <a:ext uri="{9D8B030D-6E8A-4147-A177-3AD203B41FA5}">
                      <a16:colId xmlns:a16="http://schemas.microsoft.com/office/drawing/2014/main" val="1155573946"/>
                    </a:ext>
                  </a:extLst>
                </a:gridCol>
                <a:gridCol w="989416">
                  <a:extLst>
                    <a:ext uri="{9D8B030D-6E8A-4147-A177-3AD203B41FA5}">
                      <a16:colId xmlns:a16="http://schemas.microsoft.com/office/drawing/2014/main" val="603179660"/>
                    </a:ext>
                  </a:extLst>
                </a:gridCol>
              </a:tblGrid>
              <a:tr h="282007">
                <a:tc>
                  <a:txBody>
                    <a:bodyPr/>
                    <a:lstStyle/>
                    <a:p>
                      <a:pPr>
                        <a:lnSpc>
                          <a:spcPct val="107000"/>
                        </a:lnSpc>
                        <a:spcAft>
                          <a:spcPts val="800"/>
                        </a:spcAft>
                        <a:buNone/>
                      </a:pPr>
                      <a:r>
                        <a:rPr lang="en-IN" sz="1200" b="1" kern="100">
                          <a:effectLst/>
                        </a:rPr>
                        <a:t>Phase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b="1" kern="100">
                          <a:effectLst/>
                        </a:rPr>
                        <a:t>Week 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2867067"/>
                  </a:ext>
                </a:extLst>
              </a:tr>
              <a:tr h="442236">
                <a:tc>
                  <a:txBody>
                    <a:bodyPr/>
                    <a:lstStyle/>
                    <a:p>
                      <a:pPr>
                        <a:lnSpc>
                          <a:spcPct val="107000"/>
                        </a:lnSpc>
                        <a:spcAft>
                          <a:spcPts val="800"/>
                        </a:spcAft>
                        <a:buNone/>
                      </a:pPr>
                      <a:r>
                        <a:rPr lang="en-IN" sz="1200" b="1" kern="100">
                          <a:effectLst/>
                        </a:rPr>
                        <a:t>Data Collection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2825193"/>
                  </a:ext>
                </a:extLst>
              </a:tr>
              <a:tr h="877272">
                <a:tc>
                  <a:txBody>
                    <a:bodyPr/>
                    <a:lstStyle/>
                    <a:p>
                      <a:pPr>
                        <a:lnSpc>
                          <a:spcPct val="107000"/>
                        </a:lnSpc>
                        <a:spcAft>
                          <a:spcPts val="800"/>
                        </a:spcAft>
                        <a:buNone/>
                      </a:pPr>
                      <a:r>
                        <a:rPr lang="en-IN" sz="1200" b="1" kern="100">
                          <a:effectLst/>
                        </a:rPr>
                        <a:t>Data Cleaning &amp; Standardization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dirty="0">
                          <a:effectLst/>
                        </a:rPr>
                        <a: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6537238"/>
                  </a:ext>
                </a:extLst>
              </a:tr>
              <a:tr h="659753">
                <a:tc>
                  <a:txBody>
                    <a:bodyPr/>
                    <a:lstStyle/>
                    <a:p>
                      <a:pPr>
                        <a:lnSpc>
                          <a:spcPct val="107000"/>
                        </a:lnSpc>
                        <a:spcAft>
                          <a:spcPts val="800"/>
                        </a:spcAft>
                        <a:buNone/>
                      </a:pPr>
                      <a:r>
                        <a:rPr lang="en-IN" sz="1200" b="1" kern="100">
                          <a:effectLst/>
                        </a:rPr>
                        <a:t>Categorization &amp; Analysis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90262525"/>
                  </a:ext>
                </a:extLst>
              </a:tr>
              <a:tr h="877272">
                <a:tc>
                  <a:txBody>
                    <a:bodyPr/>
                    <a:lstStyle/>
                    <a:p>
                      <a:pPr>
                        <a:lnSpc>
                          <a:spcPct val="107000"/>
                        </a:lnSpc>
                        <a:spcAft>
                          <a:spcPts val="800"/>
                        </a:spcAft>
                        <a:buNone/>
                      </a:pPr>
                      <a:r>
                        <a:rPr lang="en-IN" sz="1200" b="1" kern="100">
                          <a:effectLst/>
                        </a:rPr>
                        <a:t>Visualization &amp; Dashboard Dev.</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96280325"/>
                  </a:ext>
                </a:extLst>
              </a:tr>
              <a:tr h="547565">
                <a:tc>
                  <a:txBody>
                    <a:bodyPr/>
                    <a:lstStyle/>
                    <a:p>
                      <a:pPr>
                        <a:lnSpc>
                          <a:spcPct val="107000"/>
                        </a:lnSpc>
                        <a:spcAft>
                          <a:spcPts val="800"/>
                        </a:spcAft>
                        <a:buNone/>
                      </a:pPr>
                      <a:r>
                        <a:rPr lang="en-IN" sz="1200" b="1" kern="100">
                          <a:effectLst/>
                        </a:rPr>
                        <a:t>Testing &amp; Refinement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67950713"/>
                  </a:ext>
                </a:extLst>
              </a:tr>
              <a:tr h="659753">
                <a:tc>
                  <a:txBody>
                    <a:bodyPr/>
                    <a:lstStyle/>
                    <a:p>
                      <a:pPr>
                        <a:lnSpc>
                          <a:spcPct val="107000"/>
                        </a:lnSpc>
                        <a:spcAft>
                          <a:spcPts val="800"/>
                        </a:spcAft>
                        <a:buNone/>
                      </a:pPr>
                      <a:r>
                        <a:rPr lang="en-IN" sz="1200" b="1" kern="100">
                          <a:effectLst/>
                        </a:rPr>
                        <a:t>Final Reporting &amp; Review</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dirty="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buNone/>
                      </a:pPr>
                      <a:endParaRPr lang="en-IN" sz="1200" kern="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a:effectLst/>
                        </a:rPr>
                        <a: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200" kern="100" dirty="0">
                          <a:effectLst/>
                        </a:rPr>
                        <a:t>✔</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54220452"/>
                  </a:ext>
                </a:extLst>
              </a:tr>
            </a:tbl>
          </a:graphicData>
        </a:graphic>
      </p:graphicFrame>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5AEB8C2C-718B-5661-6521-3425DC674D94}"/>
              </a:ext>
            </a:extLst>
          </p:cNvPr>
          <p:cNvSpPr>
            <a:spLocks noGrp="1" noChangeArrowheads="1"/>
          </p:cNvSpPr>
          <p:nvPr>
            <p:ph type="body" idx="1"/>
          </p:nvPr>
        </p:nvSpPr>
        <p:spPr bwMode="auto">
          <a:xfrm>
            <a:off x="304800" y="1718981"/>
            <a:ext cx="11533239"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dirty="0">
                <a:latin typeface="Calibri" panose="020F0502020204030204" pitchFamily="34" charset="0"/>
                <a:ea typeface="Calibri" panose="020F0502020204030204" pitchFamily="34" charset="0"/>
                <a:cs typeface="Calibri" panose="020F0502020204030204" pitchFamily="34" charset="0"/>
              </a:rPr>
              <a:t>[1] R. Patel and S. Desai, “Education data mining for policy-making: A case study of dropout prevention,” in </a:t>
            </a:r>
            <a:r>
              <a:rPr lang="en-IN" sz="1800" i="1" dirty="0">
                <a:latin typeface="Calibri" panose="020F0502020204030204" pitchFamily="34" charset="0"/>
                <a:ea typeface="Calibri" panose="020F0502020204030204" pitchFamily="34" charset="0"/>
                <a:cs typeface="Calibri" panose="020F0502020204030204" pitchFamily="34" charset="0"/>
              </a:rPr>
              <a:t>Proc. IEEE Global Humanitarian Tech. Conf.</a:t>
            </a:r>
            <a:r>
              <a:rPr lang="en-IN" sz="1800" dirty="0">
                <a:latin typeface="Calibri" panose="020F0502020204030204" pitchFamily="34" charset="0"/>
                <a:ea typeface="Calibri" panose="020F0502020204030204" pitchFamily="34" charset="0"/>
                <a:cs typeface="Calibri" panose="020F0502020204030204" pitchFamily="34" charset="0"/>
              </a:rPr>
              <a:t>, pp. 119–124, Oct. 2020.</a:t>
            </a:r>
          </a:p>
          <a:p>
            <a:r>
              <a:rPr lang="en-IN" sz="1800" dirty="0">
                <a:latin typeface="Calibri" panose="020F0502020204030204" pitchFamily="34" charset="0"/>
                <a:ea typeface="Calibri" panose="020F0502020204030204" pitchFamily="34" charset="0"/>
                <a:cs typeface="Calibri" panose="020F0502020204030204" pitchFamily="34" charset="0"/>
              </a:rPr>
              <a:t>[2] Ministry of Education, Govt. of India, “Unified District Information System for Education Plus (UDISE+) 2022–23 report,” [Online]. Available: </a:t>
            </a:r>
            <a:r>
              <a:rPr lang="en-IN" sz="1800" dirty="0">
                <a:latin typeface="Calibri" panose="020F0502020204030204" pitchFamily="34" charset="0"/>
                <a:ea typeface="Calibri" panose="020F0502020204030204" pitchFamily="34" charset="0"/>
                <a:cs typeface="Calibri" panose="020F0502020204030204" pitchFamily="34" charset="0"/>
                <a:hlinkClick r:id="rId3"/>
              </a:rPr>
              <a:t>https://udiseplus.gov.in</a:t>
            </a:r>
            <a:endParaRPr lang="en-IN" sz="1800" dirty="0">
              <a:latin typeface="Calibri" panose="020F0502020204030204" pitchFamily="34" charset="0"/>
              <a:ea typeface="Calibri" panose="020F0502020204030204" pitchFamily="34" charset="0"/>
              <a:cs typeface="Calibri" panose="020F0502020204030204" pitchFamily="34" charset="0"/>
            </a:endParaRPr>
          </a:p>
          <a:p>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[3]R. Ramesh, S. Kumar, and A. Patel, “Predicting student dropout risk using decision tree classification,” </a:t>
            </a:r>
            <a:r>
              <a:rPr lang="en-US" altLang="en-US" sz="1800" i="1" dirty="0">
                <a:solidFill>
                  <a:schemeClr val="tx1"/>
                </a:solidFill>
                <a:latin typeface="Calibri" panose="020F0502020204030204" pitchFamily="34" charset="0"/>
                <a:ea typeface="Calibri" panose="020F0502020204030204" pitchFamily="34" charset="0"/>
                <a:cs typeface="Calibri" panose="020F0502020204030204" pitchFamily="34" charset="0"/>
              </a:rPr>
              <a:t>IEEE Access</a:t>
            </a: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vol. 9, pp. 12345–12354, 2021.</a:t>
            </a:r>
          </a:p>
          <a:p>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[4]M. Khan and L. Wong, “Logistic regression analysis for school dropout prediction,” </a:t>
            </a:r>
            <a:r>
              <a:rPr lang="en-US" altLang="en-US" sz="1800" i="1" dirty="0">
                <a:solidFill>
                  <a:schemeClr val="tx1"/>
                </a:solidFill>
                <a:latin typeface="Calibri" panose="020F0502020204030204" pitchFamily="34" charset="0"/>
                <a:ea typeface="Calibri" panose="020F0502020204030204" pitchFamily="34" charset="0"/>
                <a:cs typeface="Calibri" panose="020F0502020204030204" pitchFamily="34" charset="0"/>
              </a:rPr>
              <a:t>Proc. IEEE Conf. EduTech</a:t>
            </a: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pp. 234–239, 2020.</a:t>
            </a:r>
          </a:p>
          <a:p>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[5]J. Fernandes, P. Silva, and R. Costa, “Random forest approach for student dropout analysis,” </a:t>
            </a:r>
            <a:r>
              <a:rPr lang="en-US" altLang="en-US" sz="1800" i="1" dirty="0">
                <a:solidFill>
                  <a:schemeClr val="tx1"/>
                </a:solidFill>
                <a:latin typeface="Calibri" panose="020F0502020204030204" pitchFamily="34" charset="0"/>
                <a:ea typeface="Calibri" panose="020F0502020204030204" pitchFamily="34" charset="0"/>
                <a:cs typeface="Calibri" panose="020F0502020204030204" pitchFamily="34" charset="0"/>
              </a:rPr>
              <a:t>Education Data Mining</a:t>
            </a:r>
            <a:r>
              <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pp. 45–52, 2019.</a:t>
            </a:r>
          </a:p>
          <a:p>
            <a:pPr marL="76200" indent="0">
              <a:buNone/>
            </a:pPr>
            <a:endParaRPr lang="en-IN"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478</TotalTime>
  <Words>1169</Words>
  <Application>Microsoft Office PowerPoint</Application>
  <PresentationFormat>Widescreen</PresentationFormat>
  <Paragraphs>163</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vt:lpstr>
      <vt:lpstr>Verdana</vt:lpstr>
      <vt:lpstr>Wingdings</vt:lpstr>
      <vt:lpstr>Bioinformatics</vt:lpstr>
      <vt:lpstr>AIML-STUDENT DROPOUT ANALYSIS FOR SCHOOL EDUCATION</vt:lpstr>
      <vt:lpstr>Content</vt:lpstr>
      <vt:lpstr>Problem Statement Number: 55</vt:lpstr>
      <vt:lpstr>Content (continuation)..</vt:lpstr>
      <vt:lpstr>Existing Methods and Drawback</vt:lpstr>
      <vt:lpstr>PowerPoint Presentation</vt:lpstr>
      <vt:lpstr>Architecture Diagram</vt:lpstr>
      <vt:lpstr>Technology Stack Components/Modules</vt:lpstr>
      <vt:lpstr>PowerPoint Presentation</vt:lpstr>
      <vt:lpstr>Background and Related Work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AISHWARYA PRABHU P</cp:lastModifiedBy>
  <cp:revision>43</cp:revision>
  <dcterms:modified xsi:type="dcterms:W3CDTF">2025-09-09T13:30:24Z</dcterms:modified>
</cp:coreProperties>
</file>